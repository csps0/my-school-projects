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71" r:id="rId5"/>
    <p:sldId id="269" r:id="rId6"/>
    <p:sldId id="272" r:id="rId7"/>
    <p:sldId id="270" r:id="rId8"/>
    <p:sldId id="265" r:id="rId9"/>
    <p:sldId id="267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8C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B4BE49-623B-E1F7-7586-D937CA280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56BEBA5-E5B5-4D2F-2E9B-9F98D4EA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A90C17-D244-9F92-1F38-A873509F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5D00BD-A9FA-2136-589B-E97A760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07259CF-1436-3DA0-7DDF-7CF89526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119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2AA8C4-63AF-7A67-BB44-19C36FEA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BDCF8F-4E2D-D734-A93B-BD920E596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AF029C0-D62C-B89E-131F-A3581683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FC18EF-C718-59AA-26B3-1EBD0E61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649187E-9616-7758-A36E-641B115A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840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991A7E-559E-5793-4DDE-582C45C71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C2AE778-BB19-14DB-ED49-DE2AE43E6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83B449A-C042-08CA-B5E8-46008A5C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08E7399-BA12-B075-3639-A9BE9720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61A87F-BA74-2ECF-59AE-B38C818F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119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B3CB5B-48B1-28D0-939D-9B555F2D9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FD41CD-0983-F0A9-2904-7A9A350A7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BF0056A-CE2E-527A-C37D-D4410C06A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24E5967-1C27-FD40-623C-760FDEF3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1179BC0-E103-E5C7-9446-9A76E4E44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6E5A8C9-0C8F-AF2D-E3BD-7E3F8EDE5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114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5E14AA-8A40-CC57-0B41-6246308F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BEBF7D4-B5AE-5794-509E-18E027098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8FC538F-93A7-B10E-F891-708EF8975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8F547D4-67B7-6223-637B-D7032A154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12050FD-A292-FDDB-F97A-05D7530BB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4BE4823-0FD4-AFF9-4589-5493CBDD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3DA0162-2008-8807-7B16-A0ECAFE2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A4DF730-739D-1202-C22C-456324BF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671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FA678B-CE8D-BC43-57F8-4DA73D077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0AFDCDD-FEF7-7EA6-6CB7-64F1E864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EE59E16-FF77-0E3B-05A2-8E5F11D1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F51E64C-22FD-1920-A936-2AC0F4EE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306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6404435-8162-650C-D512-1F88929C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6B0E9DE-9666-96C7-00C9-453DD83B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61B2F5F-ECB5-0C1E-6B6F-418596CC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807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0587C3-2323-23BC-D27D-ED9A3168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5AE83A-9949-7C66-F59F-9C99EBBCB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CCFA0B6-579D-EB10-81D8-C0C2E00E0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8855CD-6322-1B1D-5AA2-66544293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C90D78A-97F0-258A-569F-BD7E5465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73461FE-6C60-6DA3-D3C3-6D1924AB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490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FD69E2-9A1F-7783-B180-EA62BEAF5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79BC1B2-9877-2839-D17E-68F301BA2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FA97FDB-D91E-015D-523D-ACB787088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50B6F34-EC96-361B-FD44-11E5E3A3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6A54A1D-3CEE-8A8E-E072-ECE400CB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943EC99-F432-DBE7-796E-F94D6F22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1211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43A1A5-290B-72E1-D416-AE6CB8DE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C3E6AE4-C23F-F1DB-3B21-5F3A6F32C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13BC4B7-3872-CDF3-9AFC-A99DBED5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58F5A7A-D1C4-8EFC-F028-D17245717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8AE8AE9-07AD-9705-ED6C-26B8B774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105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7593312-A355-602A-7EB7-424C68BA3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0D582AA-574E-EAE8-9B65-720EFF2DC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C2494B-74DE-378B-DD06-7F1A2B8B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04E027F-386B-4C53-FB41-52874138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0B8D63B-997E-CAB4-F885-DF09DF94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44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AAD7E37-B1F7-A3E3-051B-52CCEFC9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CDA858A-FB75-F600-DDE4-4539407B6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06DDB68-7A7D-6180-4CE0-3E3B4C747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6BC32-5374-4D77-A387-90E72857E902}" type="datetimeFigureOut">
              <a:rPr lang="hu-HU" smtClean="0"/>
              <a:t>2025. 11. 13.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89F698-E418-89AB-092D-3BD8EE7FB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E890B0-D347-1EB7-7E15-EA65A96C7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87437-FD24-4AAB-AE1C-74EE7F8448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968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Számítógépes szkript a képernyőn">
            <a:extLst>
              <a:ext uri="{FF2B5EF4-FFF2-40B4-BE49-F238E27FC236}">
                <a16:creationId xmlns:a16="http://schemas.microsoft.com/office/drawing/2014/main" id="{55295D6A-F619-FEAD-E7F0-D57F34E0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81" b="9749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A87A11F-966C-82B4-ACCE-2DC2BB770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Open Source Software vs Application Software</a:t>
            </a:r>
            <a:endParaRPr lang="hu-HU" sz="5200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E00FEAC-70C3-CFC9-3E12-4C7270023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Pros and Cons Comparison</a:t>
            </a:r>
          </a:p>
        </p:txBody>
      </p:sp>
    </p:spTree>
    <p:extLst>
      <p:ext uri="{BB962C8B-B14F-4D97-AF65-F5344CB8AC3E}">
        <p14:creationId xmlns:p14="http://schemas.microsoft.com/office/powerpoint/2010/main" val="262057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03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Introduction concept word on a cork board. Introduction stock images, royalty-free photos and pictures">
            <a:extLst>
              <a:ext uri="{FF2B5EF4-FFF2-40B4-BE49-F238E27FC236}">
                <a16:creationId xmlns:a16="http://schemas.microsoft.com/office/drawing/2014/main" id="{3724E5A1-3FEB-B70B-760E-B979236DA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" b="15038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21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030273-62DC-6D45-BC2A-0DE0D93D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37" y="481012"/>
            <a:ext cx="45339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Open Source Software?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36DBD3-89E2-D334-961A-4CA27FE75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637" y="2025650"/>
            <a:ext cx="4157663" cy="1936750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Software with source code publicly available</a:t>
            </a:r>
          </a:p>
          <a:p>
            <a:r>
              <a:rPr lang="hu-HU" sz="2800" dirty="0" err="1">
                <a:solidFill>
                  <a:schemeClr val="bg1"/>
                </a:solidFill>
              </a:rPr>
              <a:t>Allows</a:t>
            </a:r>
            <a:r>
              <a:rPr lang="hu-HU" sz="2800" dirty="0">
                <a:solidFill>
                  <a:schemeClr val="bg1"/>
                </a:solidFill>
              </a:rPr>
              <a:t> </a:t>
            </a:r>
            <a:r>
              <a:rPr lang="hu-HU" sz="2800" dirty="0" err="1">
                <a:solidFill>
                  <a:schemeClr val="bg1"/>
                </a:solidFill>
              </a:rPr>
              <a:t>modification</a:t>
            </a:r>
            <a:r>
              <a:rPr lang="hu-HU" sz="2800" dirty="0">
                <a:solidFill>
                  <a:schemeClr val="bg1"/>
                </a:solidFill>
              </a:rPr>
              <a:t> and </a:t>
            </a:r>
            <a:r>
              <a:rPr lang="hu-HU" sz="2800" dirty="0" err="1">
                <a:solidFill>
                  <a:schemeClr val="bg1"/>
                </a:solidFill>
              </a:rPr>
              <a:t>distribution</a:t>
            </a:r>
            <a:endParaRPr lang="en-GB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4947B5B-2CA3-812D-79FF-8772198D3B84}"/>
              </a:ext>
            </a:extLst>
          </p:cNvPr>
          <p:cNvSpPr txBox="1"/>
          <p:nvPr/>
        </p:nvSpPr>
        <p:spPr>
          <a:xfrm>
            <a:off x="7229476" y="825718"/>
            <a:ext cx="434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Examples: Linux, Chromium, LibreOffice, </a:t>
            </a:r>
            <a:r>
              <a:rPr lang="en-GB" sz="2800" dirty="0" err="1">
                <a:solidFill>
                  <a:schemeClr val="bg1"/>
                </a:solidFill>
              </a:rPr>
              <a:t>VSCodium</a:t>
            </a:r>
            <a:r>
              <a:rPr lang="en-GB" sz="2800" dirty="0">
                <a:solidFill>
                  <a:schemeClr val="bg1"/>
                </a:solidFill>
              </a:rPr>
              <a:t>, OpenSSH, etc.</a:t>
            </a:r>
            <a:endParaRPr lang="hu-HU" sz="2800" dirty="0">
              <a:solidFill>
                <a:schemeClr val="bg1"/>
              </a:solidFill>
            </a:endParaRPr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78196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D025935F-6D4E-A424-DC24-157CBF9ED4D0}"/>
              </a:ext>
            </a:extLst>
          </p:cNvPr>
          <p:cNvSpPr txBox="1"/>
          <p:nvPr/>
        </p:nvSpPr>
        <p:spPr>
          <a:xfrm>
            <a:off x="1038224" y="2305351"/>
            <a:ext cx="4600575" cy="2932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Char char="•"/>
            </a:pPr>
            <a:r>
              <a:rPr lang="hu-HU" sz="2400" kern="1200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Typically</a:t>
            </a:r>
            <a:r>
              <a:rPr lang="hu-HU" sz="24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free </a:t>
            </a:r>
            <a:r>
              <a:rPr lang="hu-HU" sz="2400" kern="1200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or</a:t>
            </a:r>
            <a:r>
              <a:rPr lang="hu-HU" sz="24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hu-HU" sz="2400" kern="1200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low</a:t>
            </a:r>
            <a:r>
              <a:rPr lang="hu-HU" sz="24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-cost</a:t>
            </a:r>
            <a:endParaRPr lang="hu-HU" sz="2400" dirty="0">
              <a:effectLst/>
            </a:endParaRPr>
          </a:p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2400" kern="1200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Highly</a:t>
            </a:r>
            <a:r>
              <a:rPr lang="hu-HU" sz="24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hu-HU" sz="2400" kern="12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customizable</a:t>
            </a:r>
            <a:endParaRPr lang="hu-HU" sz="2400" dirty="0">
              <a:effectLst/>
            </a:endParaRPr>
          </a:p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Transparent and secure through community review</a:t>
            </a:r>
            <a:endParaRPr lang="hu-HU" sz="2400" dirty="0">
              <a:effectLst/>
            </a:endParaRPr>
          </a:p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Community-driven development leads to quick improvements</a:t>
            </a:r>
            <a:endParaRPr lang="hu-HU" sz="2400" dirty="0">
              <a:effectLst/>
            </a:endParaRPr>
          </a:p>
          <a:p>
            <a:pPr marL="285750" indent="-28575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2400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Platform </a:t>
            </a:r>
            <a:r>
              <a:rPr lang="hu-HU" sz="2400" kern="1200" dirty="0" err="1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compatibility</a:t>
            </a:r>
            <a:endParaRPr lang="hu-HU" sz="2400" dirty="0">
              <a:effectLst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CC4097C-E86C-13FF-4AC0-FBF3A7F87BEA}"/>
              </a:ext>
            </a:extLst>
          </p:cNvPr>
          <p:cNvSpPr txBox="1"/>
          <p:nvPr/>
        </p:nvSpPr>
        <p:spPr>
          <a:xfrm>
            <a:off x="6467475" y="2305351"/>
            <a:ext cx="5276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Requires</a:t>
            </a:r>
            <a:r>
              <a:rPr lang="hu-HU" sz="2400" dirty="0">
                <a:solidFill>
                  <a:schemeClr val="bg1"/>
                </a:solidFill>
              </a:rPr>
              <a:t> </a:t>
            </a:r>
            <a:r>
              <a:rPr lang="hu-HU" sz="2400" dirty="0" err="1">
                <a:solidFill>
                  <a:schemeClr val="bg1"/>
                </a:solidFill>
              </a:rPr>
              <a:t>technical</a:t>
            </a:r>
            <a:r>
              <a:rPr lang="hu-HU" sz="2400" dirty="0">
                <a:solidFill>
                  <a:schemeClr val="bg1"/>
                </a:solidFill>
              </a:rPr>
              <a:t> </a:t>
            </a:r>
            <a:r>
              <a:rPr lang="hu-HU" sz="2400" dirty="0" err="1">
                <a:solidFill>
                  <a:schemeClr val="bg1"/>
                </a:solidFill>
              </a:rPr>
              <a:t>expertise</a:t>
            </a:r>
            <a:endParaRPr lang="en-GB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Limited formal support, mostly community-based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Potential security risks if poorly managed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Possible compatibility and functionality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bg1"/>
                </a:solidFill>
              </a:rPr>
              <a:t>Maintenance</a:t>
            </a:r>
            <a:r>
              <a:rPr lang="hu-HU" sz="2400" dirty="0">
                <a:solidFill>
                  <a:schemeClr val="bg1"/>
                </a:solidFill>
              </a:rPr>
              <a:t> and </a:t>
            </a:r>
            <a:r>
              <a:rPr lang="hu-HU" sz="2400" dirty="0" err="1">
                <a:solidFill>
                  <a:schemeClr val="bg1"/>
                </a:solidFill>
              </a:rPr>
              <a:t>legal</a:t>
            </a:r>
            <a:r>
              <a:rPr lang="hu-HU" sz="2400" dirty="0">
                <a:solidFill>
                  <a:schemeClr val="bg1"/>
                </a:solidFill>
              </a:rPr>
              <a:t> </a:t>
            </a:r>
            <a:r>
              <a:rPr lang="hu-HU" sz="2400" dirty="0" err="1">
                <a:solidFill>
                  <a:schemeClr val="bg1"/>
                </a:solidFill>
              </a:rPr>
              <a:t>complexities</a:t>
            </a:r>
            <a:endParaRPr lang="hu-H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36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5808E6-1A49-E65E-234D-ED181C06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50825"/>
            <a:ext cx="4528185" cy="1325563"/>
          </a:xfrm>
        </p:spPr>
        <p:txBody>
          <a:bodyPr/>
          <a:lstStyle/>
          <a:p>
            <a:r>
              <a:rPr lang="hu-HU" sz="4400" dirty="0" err="1">
                <a:solidFill>
                  <a:schemeClr val="bg1"/>
                </a:solidFill>
              </a:rPr>
              <a:t>What</a:t>
            </a:r>
            <a:r>
              <a:rPr lang="hu-HU" sz="4400" dirty="0">
                <a:solidFill>
                  <a:schemeClr val="bg1"/>
                </a:solidFill>
              </a:rPr>
              <a:t> is </a:t>
            </a:r>
            <a:r>
              <a:rPr lang="hu-HU" sz="4400" dirty="0" err="1">
                <a:solidFill>
                  <a:schemeClr val="bg1"/>
                </a:solidFill>
              </a:rPr>
              <a:t>Application</a:t>
            </a:r>
            <a:r>
              <a:rPr lang="hu-HU" sz="4400" dirty="0">
                <a:solidFill>
                  <a:schemeClr val="bg1"/>
                </a:solidFill>
              </a:rPr>
              <a:t> Software?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53DA6D-43AD-D563-218E-9756A431F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589152"/>
            <a:ext cx="5257800" cy="1925764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Software designed for specific user tasks</a:t>
            </a:r>
          </a:p>
          <a:p>
            <a:r>
              <a:rPr lang="en-US" sz="2800" dirty="0">
                <a:solidFill>
                  <a:schemeClr val="bg1"/>
                </a:solidFill>
              </a:rPr>
              <a:t>Can be open source or proprietary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0C5E843-BA38-6307-107F-1DE628EBD959}"/>
              </a:ext>
            </a:extLst>
          </p:cNvPr>
          <p:cNvSpPr txBox="1"/>
          <p:nvPr/>
        </p:nvSpPr>
        <p:spPr>
          <a:xfrm>
            <a:off x="7648574" y="1576388"/>
            <a:ext cx="43624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Examples: Office, Adobe,  Teams, Windows, macOS, </a:t>
            </a:r>
            <a:r>
              <a:rPr lang="en-US" sz="2800" dirty="0" err="1">
                <a:solidFill>
                  <a:schemeClr val="bg1"/>
                </a:solidFill>
              </a:rPr>
              <a:t>VSCode</a:t>
            </a:r>
            <a:r>
              <a:rPr lang="en-US" sz="2800" dirty="0">
                <a:solidFill>
                  <a:schemeClr val="bg1"/>
                </a:solidFill>
              </a:rPr>
              <a:t>, Google Chrome</a:t>
            </a:r>
            <a:endParaRPr lang="hu-HU" sz="2800" dirty="0">
              <a:solidFill>
                <a:schemeClr val="bg1"/>
              </a:solidFill>
            </a:endParaRPr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79296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B41C6123-0370-B5FB-4467-7397B5B15947}"/>
              </a:ext>
            </a:extLst>
          </p:cNvPr>
          <p:cNvSpPr txBox="1"/>
          <p:nvPr/>
        </p:nvSpPr>
        <p:spPr>
          <a:xfrm>
            <a:off x="1581151" y="1128326"/>
            <a:ext cx="51625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Designed for specific user needs with rich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Professional support and regular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Built-in security and compliance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Collaboration and scalability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Streamlines workflow and automates tasks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CB3BD0D-EAC9-5B3C-A97C-66986AF53C7A}"/>
              </a:ext>
            </a:extLst>
          </p:cNvPr>
          <p:cNvSpPr txBox="1"/>
          <p:nvPr/>
        </p:nvSpPr>
        <p:spPr>
          <a:xfrm>
            <a:off x="7010400" y="1228725"/>
            <a:ext cx="50101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 err="1">
                <a:solidFill>
                  <a:schemeClr val="bg1"/>
                </a:solidFill>
              </a:rPr>
              <a:t>Licensing</a:t>
            </a:r>
            <a:r>
              <a:rPr lang="hu-HU" sz="2200" dirty="0">
                <a:solidFill>
                  <a:schemeClr val="bg1"/>
                </a:solidFill>
              </a:rPr>
              <a:t>/</a:t>
            </a:r>
            <a:r>
              <a:rPr lang="hu-HU" sz="2200" dirty="0" err="1">
                <a:solidFill>
                  <a:schemeClr val="bg1"/>
                </a:solidFill>
              </a:rPr>
              <a:t>subscription</a:t>
            </a:r>
            <a:r>
              <a:rPr lang="hu-HU" sz="2200" dirty="0">
                <a:solidFill>
                  <a:schemeClr val="bg1"/>
                </a:solidFill>
              </a:rPr>
              <a:t> </a:t>
            </a:r>
            <a:r>
              <a:rPr lang="hu-HU" sz="2200" dirty="0" err="1">
                <a:solidFill>
                  <a:schemeClr val="bg1"/>
                </a:solidFill>
              </a:rPr>
              <a:t>costs</a:t>
            </a:r>
            <a:endParaRPr lang="en-GB" sz="2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Integration challenges with older or niche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Learning curve for new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bg1"/>
                </a:solidFill>
                <a:effectLst/>
              </a:rPr>
              <a:t>Security risks if not updated or managed properly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bg1"/>
                </a:solidFill>
                <a:effectLst/>
              </a:rPr>
              <a:t>Vendor lock-in and reduced flexibility</a:t>
            </a:r>
          </a:p>
        </p:txBody>
      </p:sp>
    </p:spTree>
    <p:extLst>
      <p:ext uri="{BB962C8B-B14F-4D97-AF65-F5344CB8AC3E}">
        <p14:creationId xmlns:p14="http://schemas.microsoft.com/office/powerpoint/2010/main" val="133952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3EFED-280B-3CDB-C1E2-7A21DA787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850" y="1079500"/>
            <a:ext cx="5067299" cy="1325563"/>
          </a:xfrm>
        </p:spPr>
        <p:txBody>
          <a:bodyPr>
            <a:normAutofit fontScale="90000"/>
          </a:bodyPr>
          <a:lstStyle/>
          <a:p>
            <a:r>
              <a:rPr lang="hu-HU" sz="4400" dirty="0">
                <a:solidFill>
                  <a:schemeClr val="bg1"/>
                </a:solidFill>
              </a:rPr>
              <a:t>Non-Open </a:t>
            </a:r>
            <a:r>
              <a:rPr lang="hu-HU" sz="4400" dirty="0" err="1">
                <a:solidFill>
                  <a:schemeClr val="bg1"/>
                </a:solidFill>
              </a:rPr>
              <a:t>Source</a:t>
            </a:r>
            <a:r>
              <a:rPr lang="hu-HU" sz="4400" dirty="0">
                <a:solidFill>
                  <a:schemeClr val="bg1"/>
                </a:solidFill>
              </a:rPr>
              <a:t> but </a:t>
            </a:r>
            <a:r>
              <a:rPr lang="hu-HU" sz="4400" dirty="0" err="1">
                <a:solidFill>
                  <a:schemeClr val="bg1"/>
                </a:solidFill>
              </a:rPr>
              <a:t>Moddable</a:t>
            </a:r>
            <a:r>
              <a:rPr lang="hu-HU" sz="4400" dirty="0">
                <a:solidFill>
                  <a:schemeClr val="bg1"/>
                </a:solidFill>
              </a:rPr>
              <a:t> Software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9EB9E5-8B4F-65C3-B5F5-941C9F9A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850" y="2549524"/>
            <a:ext cx="5133976" cy="3813175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Software that is proprietary but supports user modifications or extensions</a:t>
            </a:r>
          </a:p>
          <a:p>
            <a:r>
              <a:rPr lang="en-US" sz="2400" dirty="0">
                <a:solidFill>
                  <a:schemeClr val="bg1"/>
                </a:solidFill>
              </a:rPr>
              <a:t>Customizability without full source access, enhances user experience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Limited by proprietary restrictions, possible instability, risk of violating terms of service</a:t>
            </a:r>
          </a:p>
          <a:p>
            <a:r>
              <a:rPr lang="hu-HU" sz="2400" dirty="0" err="1">
                <a:solidFill>
                  <a:schemeClr val="bg1"/>
                </a:solidFill>
              </a:rPr>
              <a:t>Examples</a:t>
            </a:r>
            <a:r>
              <a:rPr lang="hu-HU" sz="2400" dirty="0">
                <a:solidFill>
                  <a:schemeClr val="bg1"/>
                </a:solidFill>
              </a:rPr>
              <a:t>: </a:t>
            </a:r>
            <a:r>
              <a:rPr lang="hu-HU" sz="2400" dirty="0" err="1">
                <a:solidFill>
                  <a:schemeClr val="bg1"/>
                </a:solidFill>
              </a:rPr>
              <a:t>Spicetify</a:t>
            </a:r>
            <a:r>
              <a:rPr lang="hu-HU" sz="2400" dirty="0">
                <a:solidFill>
                  <a:schemeClr val="bg1"/>
                </a:solidFill>
              </a:rPr>
              <a:t>, </a:t>
            </a:r>
            <a:r>
              <a:rPr lang="hu-HU" sz="2400" dirty="0" err="1">
                <a:solidFill>
                  <a:schemeClr val="bg1"/>
                </a:solidFill>
              </a:rPr>
              <a:t>Vencord</a:t>
            </a:r>
            <a:r>
              <a:rPr lang="en-GB" sz="2400" dirty="0">
                <a:solidFill>
                  <a:schemeClr val="bg1"/>
                </a:solidFill>
              </a:rPr>
              <a:t>, </a:t>
            </a:r>
            <a:r>
              <a:rPr lang="hu-HU" sz="2400" dirty="0">
                <a:solidFill>
                  <a:schemeClr val="bg1"/>
                </a:solidFill>
              </a:rPr>
              <a:t>Steam Millennium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762366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Rectangle 307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Conclusion appearing behind ripped brown paper. Conclusion appearing behind ripped brown paper, concept conclusion words stock pictures, royalty-free photos &amp; images">
            <a:extLst>
              <a:ext uri="{FF2B5EF4-FFF2-40B4-BE49-F238E27FC236}">
                <a16:creationId xmlns:a16="http://schemas.microsoft.com/office/drawing/2014/main" id="{99AA348D-1D4A-3443-4002-6E0CA70EC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" b="5937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736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árga kérdőjel">
            <a:extLst>
              <a:ext uri="{FF2B5EF4-FFF2-40B4-BE49-F238E27FC236}">
                <a16:creationId xmlns:a16="http://schemas.microsoft.com/office/drawing/2014/main" id="{F8A249C9-1249-A3AA-DFE7-77CE0470F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3CCC20B-E7E2-43B5-0DB5-B131538A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1393374"/>
            <a:ext cx="3088005" cy="8142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D48C26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867154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220</Words>
  <Application>Microsoft Office PowerPoint</Application>
  <PresentationFormat>Szélesvásznú</PresentationFormat>
  <Paragraphs>36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Office-téma</vt:lpstr>
      <vt:lpstr>Open Source Software vs Application Software</vt:lpstr>
      <vt:lpstr>PowerPoint-bemutató</vt:lpstr>
      <vt:lpstr>What is Open Source Software?</vt:lpstr>
      <vt:lpstr>PowerPoint-bemutató</vt:lpstr>
      <vt:lpstr>What is Application Software?</vt:lpstr>
      <vt:lpstr>PowerPoint-bemutató</vt:lpstr>
      <vt:lpstr>Non-Open Source but Moddable Software</vt:lpstr>
      <vt:lpstr>PowerPoint-bemutató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Source Software vs Application Software</dc:title>
  <dc:creator>Csongor Péter Solti</dc:creator>
  <cp:lastModifiedBy>Csongor Péter Solti</cp:lastModifiedBy>
  <cp:revision>62</cp:revision>
  <dcterms:created xsi:type="dcterms:W3CDTF">2025-11-10T21:33:11Z</dcterms:created>
  <dcterms:modified xsi:type="dcterms:W3CDTF">2025-11-13T10:26:42Z</dcterms:modified>
</cp:coreProperties>
</file>