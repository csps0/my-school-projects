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zanza.tv/tortenelem/kadar-korszak/eletmod-az-1960-70-es-evekben-magyarorszagon" TargetMode="External"/><Relationship Id="rId1" Type="http://schemas.openxmlformats.org/officeDocument/2006/relationships/hyperlink" Target="https://zanza.tv/tortenelem/kadar-korszak/gazdasag-es-tarsadalom-kadar-korszakban" TargetMode="Externa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zanza.tv/tortenelem/kadar-korszak/gazdasag-es-tarsadalom-kadar-korszakban" TargetMode="External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hyperlink" Target="https://zanza.tv/tortenelem/kadar-korszak/eletmod-az-1960-70-es-evekben-magyarorszago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1E6FB5-9C84-48BD-B38C-C9D26EDA63F9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6373D17-70EF-476D-AA9F-3902E4762BD0}">
      <dgm:prSet/>
      <dgm:spPr/>
      <dgm:t>
        <a:bodyPr/>
        <a:lstStyle/>
        <a:p>
          <a:r>
            <a:rPr lang="pl-PL" dirty="0"/>
            <a:t>A tudományos élet perspektívái a korszakban</a:t>
          </a:r>
          <a:endParaRPr lang="en-US" dirty="0"/>
        </a:p>
      </dgm:t>
    </dgm:pt>
    <dgm:pt modelId="{13D8D8B1-1840-4EE5-9C83-B08B0C505179}" type="parTrans" cxnId="{E7FA9C6F-3B79-4CC3-9C62-36B125B6118D}">
      <dgm:prSet/>
      <dgm:spPr/>
      <dgm:t>
        <a:bodyPr/>
        <a:lstStyle/>
        <a:p>
          <a:endParaRPr lang="en-US"/>
        </a:p>
      </dgm:t>
    </dgm:pt>
    <dgm:pt modelId="{26D78BEE-FC13-4807-8974-32E30399BAD8}" type="sibTrans" cxnId="{E7FA9C6F-3B79-4CC3-9C62-36B125B6118D}">
      <dgm:prSet/>
      <dgm:spPr/>
      <dgm:t>
        <a:bodyPr/>
        <a:lstStyle/>
        <a:p>
          <a:endParaRPr lang="en-US"/>
        </a:p>
      </dgm:t>
    </dgm:pt>
    <dgm:pt modelId="{A9A43483-866F-4639-8FE4-735D06786C55}">
      <dgm:prSet/>
      <dgm:spPr/>
      <dgm:t>
        <a:bodyPr/>
        <a:lstStyle/>
        <a:p>
          <a:r>
            <a:rPr lang="hu-HU"/>
            <a:t>Korszak öröksége a későbbi modernizációhoz</a:t>
          </a:r>
          <a:endParaRPr lang="en-US"/>
        </a:p>
      </dgm:t>
    </dgm:pt>
    <dgm:pt modelId="{6AC7DBC2-75EC-4651-B3DE-560C086742F2}" type="parTrans" cxnId="{BD3F5298-9BD1-4CE6-A8B4-B9D6A05E9824}">
      <dgm:prSet/>
      <dgm:spPr/>
      <dgm:t>
        <a:bodyPr/>
        <a:lstStyle/>
        <a:p>
          <a:endParaRPr lang="en-US"/>
        </a:p>
      </dgm:t>
    </dgm:pt>
    <dgm:pt modelId="{0DEAE069-392A-4EF4-A986-17EBC7DE5612}" type="sibTrans" cxnId="{BD3F5298-9BD1-4CE6-A8B4-B9D6A05E9824}">
      <dgm:prSet/>
      <dgm:spPr/>
      <dgm:t>
        <a:bodyPr/>
        <a:lstStyle/>
        <a:p>
          <a:endParaRPr lang="en-US"/>
        </a:p>
      </dgm:t>
    </dgm:pt>
    <dgm:pt modelId="{3A1B2954-15EC-4ED8-99A8-97AFCE5AD440}">
      <dgm:prSet/>
      <dgm:spPr/>
      <dgm:t>
        <a:bodyPr/>
        <a:lstStyle/>
        <a:p>
          <a:r>
            <a:rPr lang="hu-HU" dirty="0"/>
            <a:t>Fő sikerek és meghatározó technológiai vívmányok</a:t>
          </a:r>
          <a:endParaRPr lang="en-US" dirty="0"/>
        </a:p>
      </dgm:t>
    </dgm:pt>
    <dgm:pt modelId="{CB8A8684-FA2E-4A91-BB35-2C2A105ED416}" type="sibTrans" cxnId="{99C4E763-73F2-4ECD-9A27-4CFAB1396964}">
      <dgm:prSet/>
      <dgm:spPr/>
      <dgm:t>
        <a:bodyPr/>
        <a:lstStyle/>
        <a:p>
          <a:endParaRPr lang="en-US"/>
        </a:p>
      </dgm:t>
    </dgm:pt>
    <dgm:pt modelId="{25A0A6FB-4F4F-4119-92E7-08BADBF00915}" type="parTrans" cxnId="{99C4E763-73F2-4ECD-9A27-4CFAB1396964}">
      <dgm:prSet/>
      <dgm:spPr/>
      <dgm:t>
        <a:bodyPr/>
        <a:lstStyle/>
        <a:p>
          <a:endParaRPr lang="en-US"/>
        </a:p>
      </dgm:t>
    </dgm:pt>
    <dgm:pt modelId="{D2B98666-D02B-4C1B-B58C-2655B2A3751E}" type="pres">
      <dgm:prSet presAssocID="{311E6FB5-9C84-48BD-B38C-C9D26EDA63F9}" presName="linear" presStyleCnt="0">
        <dgm:presLayoutVars>
          <dgm:animLvl val="lvl"/>
          <dgm:resizeHandles val="exact"/>
        </dgm:presLayoutVars>
      </dgm:prSet>
      <dgm:spPr/>
    </dgm:pt>
    <dgm:pt modelId="{DB77AAAA-8D9E-4D94-850A-08F6C97C52DD}" type="pres">
      <dgm:prSet presAssocID="{3A1B2954-15EC-4ED8-99A8-97AFCE5AD44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DD870D-90E9-46D0-8636-F524E6868C37}" type="pres">
      <dgm:prSet presAssocID="{CB8A8684-FA2E-4A91-BB35-2C2A105ED416}" presName="spacer" presStyleCnt="0"/>
      <dgm:spPr/>
    </dgm:pt>
    <dgm:pt modelId="{D9E6E807-41C1-483D-BF8E-6C33CE296CB0}" type="pres">
      <dgm:prSet presAssocID="{B6373D17-70EF-476D-AA9F-3902E4762BD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D25D4D2-C609-455A-AD77-B738A5ED44A2}" type="pres">
      <dgm:prSet presAssocID="{26D78BEE-FC13-4807-8974-32E30399BAD8}" presName="spacer" presStyleCnt="0"/>
      <dgm:spPr/>
    </dgm:pt>
    <dgm:pt modelId="{F595A2F7-9E73-40D3-8CB3-FC5A0542E245}" type="pres">
      <dgm:prSet presAssocID="{A9A43483-866F-4639-8FE4-735D06786C5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9C4E763-73F2-4ECD-9A27-4CFAB1396964}" srcId="{311E6FB5-9C84-48BD-B38C-C9D26EDA63F9}" destId="{3A1B2954-15EC-4ED8-99A8-97AFCE5AD440}" srcOrd="0" destOrd="0" parTransId="{25A0A6FB-4F4F-4119-92E7-08BADBF00915}" sibTransId="{CB8A8684-FA2E-4A91-BB35-2C2A105ED416}"/>
    <dgm:cxn modelId="{E7FA9C6F-3B79-4CC3-9C62-36B125B6118D}" srcId="{311E6FB5-9C84-48BD-B38C-C9D26EDA63F9}" destId="{B6373D17-70EF-476D-AA9F-3902E4762BD0}" srcOrd="1" destOrd="0" parTransId="{13D8D8B1-1840-4EE5-9C83-B08B0C505179}" sibTransId="{26D78BEE-FC13-4807-8974-32E30399BAD8}"/>
    <dgm:cxn modelId="{A0FF8477-E395-4728-BAD6-E471A13D4662}" type="presOf" srcId="{A9A43483-866F-4639-8FE4-735D06786C55}" destId="{F595A2F7-9E73-40D3-8CB3-FC5A0542E245}" srcOrd="0" destOrd="0" presId="urn:microsoft.com/office/officeart/2005/8/layout/vList2"/>
    <dgm:cxn modelId="{BD3F5298-9BD1-4CE6-A8B4-B9D6A05E9824}" srcId="{311E6FB5-9C84-48BD-B38C-C9D26EDA63F9}" destId="{A9A43483-866F-4639-8FE4-735D06786C55}" srcOrd="2" destOrd="0" parTransId="{6AC7DBC2-75EC-4651-B3DE-560C086742F2}" sibTransId="{0DEAE069-392A-4EF4-A986-17EBC7DE5612}"/>
    <dgm:cxn modelId="{033FF49B-2E7F-4EE4-A6B5-5971C1EED186}" type="presOf" srcId="{B6373D17-70EF-476D-AA9F-3902E4762BD0}" destId="{D9E6E807-41C1-483D-BF8E-6C33CE296CB0}" srcOrd="0" destOrd="0" presId="urn:microsoft.com/office/officeart/2005/8/layout/vList2"/>
    <dgm:cxn modelId="{A7D9B8B6-DB05-4550-BDD6-F2E86B43F271}" type="presOf" srcId="{3A1B2954-15EC-4ED8-99A8-97AFCE5AD440}" destId="{DB77AAAA-8D9E-4D94-850A-08F6C97C52DD}" srcOrd="0" destOrd="0" presId="urn:microsoft.com/office/officeart/2005/8/layout/vList2"/>
    <dgm:cxn modelId="{66086CC7-1FC7-453C-A52E-69FF8B44745C}" type="presOf" srcId="{311E6FB5-9C84-48BD-B38C-C9D26EDA63F9}" destId="{D2B98666-D02B-4C1B-B58C-2655B2A3751E}" srcOrd="0" destOrd="0" presId="urn:microsoft.com/office/officeart/2005/8/layout/vList2"/>
    <dgm:cxn modelId="{F2FE2196-3BA7-4238-89F9-90D6D430594E}" type="presParOf" srcId="{D2B98666-D02B-4C1B-B58C-2655B2A3751E}" destId="{DB77AAAA-8D9E-4D94-850A-08F6C97C52DD}" srcOrd="0" destOrd="0" presId="urn:microsoft.com/office/officeart/2005/8/layout/vList2"/>
    <dgm:cxn modelId="{9101A4F4-2610-47FD-817A-76866696829C}" type="presParOf" srcId="{D2B98666-D02B-4C1B-B58C-2655B2A3751E}" destId="{6EDD870D-90E9-46D0-8636-F524E6868C37}" srcOrd="1" destOrd="0" presId="urn:microsoft.com/office/officeart/2005/8/layout/vList2"/>
    <dgm:cxn modelId="{A17902E8-D072-49E3-8F8F-905D3090249C}" type="presParOf" srcId="{D2B98666-D02B-4C1B-B58C-2655B2A3751E}" destId="{D9E6E807-41C1-483D-BF8E-6C33CE296CB0}" srcOrd="2" destOrd="0" presId="urn:microsoft.com/office/officeart/2005/8/layout/vList2"/>
    <dgm:cxn modelId="{DBBCAD69-92ED-4FD8-AF87-0AE8A0F43DC9}" type="presParOf" srcId="{D2B98666-D02B-4C1B-B58C-2655B2A3751E}" destId="{0D25D4D2-C609-455A-AD77-B738A5ED44A2}" srcOrd="3" destOrd="0" presId="urn:microsoft.com/office/officeart/2005/8/layout/vList2"/>
    <dgm:cxn modelId="{55746BED-3126-4FF4-BB29-47EC3B8D5ABA}" type="presParOf" srcId="{D2B98666-D02B-4C1B-B58C-2655B2A3751E}" destId="{F595A2F7-9E73-40D3-8CB3-FC5A0542E24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836A0F-18B2-4C44-9F7D-8F949336ADE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3B236B-4A51-496C-B59F-02061806B9D6}">
      <dgm:prSet/>
      <dgm:spPr/>
      <dgm:t>
        <a:bodyPr/>
        <a:lstStyle/>
        <a:p>
          <a:r>
            <a:rPr lang="en-GB"/>
            <a:t>Zanza.tv: </a:t>
          </a:r>
          <a:r>
            <a:rPr lang="en-GB">
              <a:hlinkClick xmlns:r="http://schemas.openxmlformats.org/officeDocument/2006/relationships" r:id="rId1"/>
            </a:rPr>
            <a:t>1</a:t>
          </a:r>
          <a:r>
            <a:rPr lang="en-GB"/>
            <a:t>, </a:t>
          </a:r>
          <a:r>
            <a:rPr lang="en-GB">
              <a:hlinkClick xmlns:r="http://schemas.openxmlformats.org/officeDocument/2006/relationships" r:id="rId2"/>
            </a:rPr>
            <a:t>2</a:t>
          </a:r>
          <a:endParaRPr lang="en-US"/>
        </a:p>
      </dgm:t>
    </dgm:pt>
    <dgm:pt modelId="{CADBFD35-A71A-40C4-9069-012B66227212}" type="parTrans" cxnId="{EDA2C031-D785-4CA7-ACC1-7478F44CE496}">
      <dgm:prSet/>
      <dgm:spPr/>
      <dgm:t>
        <a:bodyPr/>
        <a:lstStyle/>
        <a:p>
          <a:endParaRPr lang="en-US"/>
        </a:p>
      </dgm:t>
    </dgm:pt>
    <dgm:pt modelId="{3816E6DC-624E-4CA8-9AD3-52EC19D4A2A0}" type="sibTrans" cxnId="{EDA2C031-D785-4CA7-ACC1-7478F44CE496}">
      <dgm:prSet/>
      <dgm:spPr/>
      <dgm:t>
        <a:bodyPr/>
        <a:lstStyle/>
        <a:p>
          <a:endParaRPr lang="en-US"/>
        </a:p>
      </dgm:t>
    </dgm:pt>
    <dgm:pt modelId="{832CD07B-CF82-4DE3-B49D-D56C674E268B}">
      <dgm:prSet/>
      <dgm:spPr/>
      <dgm:t>
        <a:bodyPr/>
        <a:lstStyle/>
        <a:p>
          <a:r>
            <a:rPr lang="en-GB"/>
            <a:t>Mesterséges Intelligencia</a:t>
          </a:r>
          <a:endParaRPr lang="en-US"/>
        </a:p>
      </dgm:t>
    </dgm:pt>
    <dgm:pt modelId="{B87486F0-72C4-496C-86F7-D940DC5A6A92}" type="parTrans" cxnId="{3D4D5E0A-D3B6-449A-811F-226AADD6E408}">
      <dgm:prSet/>
      <dgm:spPr/>
      <dgm:t>
        <a:bodyPr/>
        <a:lstStyle/>
        <a:p>
          <a:endParaRPr lang="en-US"/>
        </a:p>
      </dgm:t>
    </dgm:pt>
    <dgm:pt modelId="{4CAF8BFB-972F-41C3-A23F-651000AD2F71}" type="sibTrans" cxnId="{3D4D5E0A-D3B6-449A-811F-226AADD6E408}">
      <dgm:prSet/>
      <dgm:spPr/>
      <dgm:t>
        <a:bodyPr/>
        <a:lstStyle/>
        <a:p>
          <a:endParaRPr lang="en-US"/>
        </a:p>
      </dgm:t>
    </dgm:pt>
    <dgm:pt modelId="{2A0B4882-E499-4E0E-89BD-DB36E22415DD}" type="pres">
      <dgm:prSet presAssocID="{96836A0F-18B2-4C44-9F7D-8F949336ADED}" presName="root" presStyleCnt="0">
        <dgm:presLayoutVars>
          <dgm:dir/>
          <dgm:resizeHandles val="exact"/>
        </dgm:presLayoutVars>
      </dgm:prSet>
      <dgm:spPr/>
    </dgm:pt>
    <dgm:pt modelId="{B5FA2A20-A8B8-47D8-8692-EB16EF692815}" type="pres">
      <dgm:prSet presAssocID="{4B3B236B-4A51-496C-B59F-02061806B9D6}" presName="compNode" presStyleCnt="0"/>
      <dgm:spPr/>
    </dgm:pt>
    <dgm:pt modelId="{5F637949-F0ED-4EF1-9016-719890F3BFCC}" type="pres">
      <dgm:prSet presAssocID="{4B3B236B-4A51-496C-B59F-02061806B9D6}" presName="bgRect" presStyleLbl="bgShp" presStyleIdx="0" presStyleCnt="2"/>
      <dgm:spPr/>
    </dgm:pt>
    <dgm:pt modelId="{94EB7B80-E90C-4A8E-A6FB-57FDAAE6C818}" type="pres">
      <dgm:prSet presAssocID="{4B3B236B-4A51-496C-B59F-02061806B9D6}" presName="iconRect" presStyleLbl="node1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lölő"/>
        </a:ext>
      </dgm:extLst>
    </dgm:pt>
    <dgm:pt modelId="{AD9486A1-8638-4118-B383-30AEA02B6557}" type="pres">
      <dgm:prSet presAssocID="{4B3B236B-4A51-496C-B59F-02061806B9D6}" presName="spaceRect" presStyleCnt="0"/>
      <dgm:spPr/>
    </dgm:pt>
    <dgm:pt modelId="{EC22413E-5C1D-4DFC-9C63-28235C1C6635}" type="pres">
      <dgm:prSet presAssocID="{4B3B236B-4A51-496C-B59F-02061806B9D6}" presName="parTx" presStyleLbl="revTx" presStyleIdx="0" presStyleCnt="2">
        <dgm:presLayoutVars>
          <dgm:chMax val="0"/>
          <dgm:chPref val="0"/>
        </dgm:presLayoutVars>
      </dgm:prSet>
      <dgm:spPr/>
    </dgm:pt>
    <dgm:pt modelId="{EDBD6E9C-2038-4467-B52A-0017071A429C}" type="pres">
      <dgm:prSet presAssocID="{3816E6DC-624E-4CA8-9AD3-52EC19D4A2A0}" presName="sibTrans" presStyleCnt="0"/>
      <dgm:spPr/>
    </dgm:pt>
    <dgm:pt modelId="{1912D9C3-E92D-4DD5-AF4D-582FDF9E5BC8}" type="pres">
      <dgm:prSet presAssocID="{832CD07B-CF82-4DE3-B49D-D56C674E268B}" presName="compNode" presStyleCnt="0"/>
      <dgm:spPr/>
    </dgm:pt>
    <dgm:pt modelId="{3A74852A-5BA3-47FD-8311-C02FB2E1CC6C}" type="pres">
      <dgm:prSet presAssocID="{832CD07B-CF82-4DE3-B49D-D56C674E268B}" presName="bgRect" presStyleLbl="bgShp" presStyleIdx="1" presStyleCnt="2"/>
      <dgm:spPr/>
    </dgm:pt>
    <dgm:pt modelId="{86FC816A-D0AE-4107-867E-19E94010EC63}" type="pres">
      <dgm:prSet presAssocID="{832CD07B-CF82-4DE3-B49D-D56C674E268B}" presName="iconRect" presStyleLbl="node1" presStyleIdx="1" presStyleCnt="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pa"/>
        </a:ext>
      </dgm:extLst>
    </dgm:pt>
    <dgm:pt modelId="{730187C9-F590-43BC-9F85-DFB339BCAF36}" type="pres">
      <dgm:prSet presAssocID="{832CD07B-CF82-4DE3-B49D-D56C674E268B}" presName="spaceRect" presStyleCnt="0"/>
      <dgm:spPr/>
    </dgm:pt>
    <dgm:pt modelId="{7EF38F45-4809-4227-A745-430031ED24BF}" type="pres">
      <dgm:prSet presAssocID="{832CD07B-CF82-4DE3-B49D-D56C674E268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D4D5E0A-D3B6-449A-811F-226AADD6E408}" srcId="{96836A0F-18B2-4C44-9F7D-8F949336ADED}" destId="{832CD07B-CF82-4DE3-B49D-D56C674E268B}" srcOrd="1" destOrd="0" parTransId="{B87486F0-72C4-496C-86F7-D940DC5A6A92}" sibTransId="{4CAF8BFB-972F-41C3-A23F-651000AD2F71}"/>
    <dgm:cxn modelId="{EDA2C031-D785-4CA7-ACC1-7478F44CE496}" srcId="{96836A0F-18B2-4C44-9F7D-8F949336ADED}" destId="{4B3B236B-4A51-496C-B59F-02061806B9D6}" srcOrd="0" destOrd="0" parTransId="{CADBFD35-A71A-40C4-9069-012B66227212}" sibTransId="{3816E6DC-624E-4CA8-9AD3-52EC19D4A2A0}"/>
    <dgm:cxn modelId="{565EAD3B-E256-4EAA-97D5-1DD98820AE45}" type="presOf" srcId="{832CD07B-CF82-4DE3-B49D-D56C674E268B}" destId="{7EF38F45-4809-4227-A745-430031ED24BF}" srcOrd="0" destOrd="0" presId="urn:microsoft.com/office/officeart/2018/2/layout/IconVerticalSolidList"/>
    <dgm:cxn modelId="{2072B765-D404-436F-AB88-68ACC4D9F6F7}" type="presOf" srcId="{96836A0F-18B2-4C44-9F7D-8F949336ADED}" destId="{2A0B4882-E499-4E0E-89BD-DB36E22415DD}" srcOrd="0" destOrd="0" presId="urn:microsoft.com/office/officeart/2018/2/layout/IconVerticalSolidList"/>
    <dgm:cxn modelId="{A32FBC4A-3C0F-49F0-90DF-6851D5ECC690}" type="presOf" srcId="{4B3B236B-4A51-496C-B59F-02061806B9D6}" destId="{EC22413E-5C1D-4DFC-9C63-28235C1C6635}" srcOrd="0" destOrd="0" presId="urn:microsoft.com/office/officeart/2018/2/layout/IconVerticalSolidList"/>
    <dgm:cxn modelId="{047BB8DD-78F1-48D9-8403-6C8692E70249}" type="presParOf" srcId="{2A0B4882-E499-4E0E-89BD-DB36E22415DD}" destId="{B5FA2A20-A8B8-47D8-8692-EB16EF692815}" srcOrd="0" destOrd="0" presId="urn:microsoft.com/office/officeart/2018/2/layout/IconVerticalSolidList"/>
    <dgm:cxn modelId="{D8CF6E15-1CB7-442F-B31F-7BEF5B3253B1}" type="presParOf" srcId="{B5FA2A20-A8B8-47D8-8692-EB16EF692815}" destId="{5F637949-F0ED-4EF1-9016-719890F3BFCC}" srcOrd="0" destOrd="0" presId="urn:microsoft.com/office/officeart/2018/2/layout/IconVerticalSolidList"/>
    <dgm:cxn modelId="{E942FE5F-1B1E-4798-BD8B-D4F477BBC643}" type="presParOf" srcId="{B5FA2A20-A8B8-47D8-8692-EB16EF692815}" destId="{94EB7B80-E90C-4A8E-A6FB-57FDAAE6C818}" srcOrd="1" destOrd="0" presId="urn:microsoft.com/office/officeart/2018/2/layout/IconVerticalSolidList"/>
    <dgm:cxn modelId="{E1D04D69-4F32-489A-A88C-57D4631F8642}" type="presParOf" srcId="{B5FA2A20-A8B8-47D8-8692-EB16EF692815}" destId="{AD9486A1-8638-4118-B383-30AEA02B6557}" srcOrd="2" destOrd="0" presId="urn:microsoft.com/office/officeart/2018/2/layout/IconVerticalSolidList"/>
    <dgm:cxn modelId="{4EA690CE-EE17-4A5C-9290-0CB00AF97550}" type="presParOf" srcId="{B5FA2A20-A8B8-47D8-8692-EB16EF692815}" destId="{EC22413E-5C1D-4DFC-9C63-28235C1C6635}" srcOrd="3" destOrd="0" presId="urn:microsoft.com/office/officeart/2018/2/layout/IconVerticalSolidList"/>
    <dgm:cxn modelId="{ADF3F50A-2B0C-4195-9CE4-D98DCBE3EDAE}" type="presParOf" srcId="{2A0B4882-E499-4E0E-89BD-DB36E22415DD}" destId="{EDBD6E9C-2038-4467-B52A-0017071A429C}" srcOrd="1" destOrd="0" presId="urn:microsoft.com/office/officeart/2018/2/layout/IconVerticalSolidList"/>
    <dgm:cxn modelId="{E22F86F3-F754-4586-B599-48E2DFE4E54E}" type="presParOf" srcId="{2A0B4882-E499-4E0E-89BD-DB36E22415DD}" destId="{1912D9C3-E92D-4DD5-AF4D-582FDF9E5BC8}" srcOrd="2" destOrd="0" presId="urn:microsoft.com/office/officeart/2018/2/layout/IconVerticalSolidList"/>
    <dgm:cxn modelId="{B44543F5-9E2C-4F36-8305-907549054971}" type="presParOf" srcId="{1912D9C3-E92D-4DD5-AF4D-582FDF9E5BC8}" destId="{3A74852A-5BA3-47FD-8311-C02FB2E1CC6C}" srcOrd="0" destOrd="0" presId="urn:microsoft.com/office/officeart/2018/2/layout/IconVerticalSolidList"/>
    <dgm:cxn modelId="{CE1A6358-8C61-406F-9CA0-E095D80C9998}" type="presParOf" srcId="{1912D9C3-E92D-4DD5-AF4D-582FDF9E5BC8}" destId="{86FC816A-D0AE-4107-867E-19E94010EC63}" srcOrd="1" destOrd="0" presId="urn:microsoft.com/office/officeart/2018/2/layout/IconVerticalSolidList"/>
    <dgm:cxn modelId="{8235E176-5DB6-4550-990C-4212D86FF360}" type="presParOf" srcId="{1912D9C3-E92D-4DD5-AF4D-582FDF9E5BC8}" destId="{730187C9-F590-43BC-9F85-DFB339BCAF36}" srcOrd="2" destOrd="0" presId="urn:microsoft.com/office/officeart/2018/2/layout/IconVerticalSolidList"/>
    <dgm:cxn modelId="{B7309435-D45E-4EBC-99FF-3BEFE7A37D0E}" type="presParOf" srcId="{1912D9C3-E92D-4DD5-AF4D-582FDF9E5BC8}" destId="{7EF38F45-4809-4227-A745-430031ED24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7AAAA-8D9E-4D94-850A-08F6C97C52DD}">
      <dsp:nvSpPr>
        <dsp:cNvPr id="0" name=""/>
        <dsp:cNvSpPr/>
      </dsp:nvSpPr>
      <dsp:spPr>
        <a:xfrm>
          <a:off x="0" y="455250"/>
          <a:ext cx="5605400" cy="14718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700" kern="1200" dirty="0"/>
            <a:t>Fő sikerek és meghatározó technológiai vívmányok</a:t>
          </a:r>
          <a:endParaRPr lang="en-US" sz="3700" kern="1200" dirty="0"/>
        </a:p>
      </dsp:txBody>
      <dsp:txXfrm>
        <a:off x="71850" y="527100"/>
        <a:ext cx="5461700" cy="1328160"/>
      </dsp:txXfrm>
    </dsp:sp>
    <dsp:sp modelId="{D9E6E807-41C1-483D-BF8E-6C33CE296CB0}">
      <dsp:nvSpPr>
        <dsp:cNvPr id="0" name=""/>
        <dsp:cNvSpPr/>
      </dsp:nvSpPr>
      <dsp:spPr>
        <a:xfrm>
          <a:off x="0" y="2033670"/>
          <a:ext cx="5605400" cy="14718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 dirty="0"/>
            <a:t>A tudományos élet perspektívái a korszakban</a:t>
          </a:r>
          <a:endParaRPr lang="en-US" sz="3700" kern="1200" dirty="0"/>
        </a:p>
      </dsp:txBody>
      <dsp:txXfrm>
        <a:off x="71850" y="2105520"/>
        <a:ext cx="5461700" cy="1328160"/>
      </dsp:txXfrm>
    </dsp:sp>
    <dsp:sp modelId="{F595A2F7-9E73-40D3-8CB3-FC5A0542E245}">
      <dsp:nvSpPr>
        <dsp:cNvPr id="0" name=""/>
        <dsp:cNvSpPr/>
      </dsp:nvSpPr>
      <dsp:spPr>
        <a:xfrm>
          <a:off x="0" y="3612090"/>
          <a:ext cx="5605400" cy="14718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700" kern="1200"/>
            <a:t>Korszak öröksége a későbbi modernizációhoz</a:t>
          </a:r>
          <a:endParaRPr lang="en-US" sz="3700" kern="1200"/>
        </a:p>
      </dsp:txBody>
      <dsp:txXfrm>
        <a:off x="71850" y="3683940"/>
        <a:ext cx="5461700" cy="13281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37949-F0ED-4EF1-9016-719890F3BFCC}">
      <dsp:nvSpPr>
        <dsp:cNvPr id="0" name=""/>
        <dsp:cNvSpPr/>
      </dsp:nvSpPr>
      <dsp:spPr>
        <a:xfrm>
          <a:off x="0" y="955306"/>
          <a:ext cx="63016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EB7B80-E90C-4A8E-A6FB-57FDAAE6C818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2413E-5C1D-4DFC-9C63-28235C1C6635}">
      <dsp:nvSpPr>
        <dsp:cNvPr id="0" name=""/>
        <dsp:cNvSpPr/>
      </dsp:nvSpPr>
      <dsp:spPr>
        <a:xfrm>
          <a:off x="2037007" y="955306"/>
          <a:ext cx="42645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Zanza.tv: </a:t>
          </a:r>
          <a:r>
            <a:rPr lang="en-GB" sz="2500" kern="1200">
              <a:hlinkClick xmlns:r="http://schemas.openxmlformats.org/officeDocument/2006/relationships" r:id="rId3"/>
            </a:rPr>
            <a:t>1</a:t>
          </a:r>
          <a:r>
            <a:rPr lang="en-GB" sz="2500" kern="1200"/>
            <a:t>, </a:t>
          </a:r>
          <a:r>
            <a:rPr lang="en-GB" sz="2500" kern="1200">
              <a:hlinkClick xmlns:r="http://schemas.openxmlformats.org/officeDocument/2006/relationships" r:id="rId4"/>
            </a:rPr>
            <a:t>2</a:t>
          </a:r>
          <a:endParaRPr lang="en-US" sz="2500" kern="1200"/>
        </a:p>
      </dsp:txBody>
      <dsp:txXfrm>
        <a:off x="2037007" y="955306"/>
        <a:ext cx="4264593" cy="1763642"/>
      </dsp:txXfrm>
    </dsp:sp>
    <dsp:sp modelId="{3A74852A-5BA3-47FD-8311-C02FB2E1CC6C}">
      <dsp:nvSpPr>
        <dsp:cNvPr id="0" name=""/>
        <dsp:cNvSpPr/>
      </dsp:nvSpPr>
      <dsp:spPr>
        <a:xfrm>
          <a:off x="0" y="3159859"/>
          <a:ext cx="63016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C816A-D0AE-4107-867E-19E94010EC63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38F45-4809-4227-A745-430031ED24BF}">
      <dsp:nvSpPr>
        <dsp:cNvPr id="0" name=""/>
        <dsp:cNvSpPr/>
      </dsp:nvSpPr>
      <dsp:spPr>
        <a:xfrm>
          <a:off x="2037007" y="3159859"/>
          <a:ext cx="42645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Mesterséges Intelligencia</a:t>
          </a:r>
          <a:endParaRPr lang="en-US" sz="2500" kern="1200"/>
        </a:p>
      </dsp:txBody>
      <dsp:txXfrm>
        <a:off x="2037007" y="3159859"/>
        <a:ext cx="4264593" cy="1763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0C0F05-4DF0-FD12-E543-39A96E4D7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A735170-E97D-3F60-3C67-3B21316A2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3F983A4-7E8D-8AFE-C5D1-7E32254A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A28123-0DBB-5547-EDAD-063919CAA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1DAD957-FDAE-342C-1BF8-7CE05EDE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131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638914-787A-1A00-C804-E15FA84A6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8EB120C-D96A-C687-90FD-D719B765C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9E4754-7362-9FD7-A5CE-845660FA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E3CD5F-871B-7973-47CD-B6510B0F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EEBE48A-3C1B-4375-E9D8-5052AF4B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176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00F497-69DE-ECC8-FA42-9734F43A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4119442-0237-F5D7-8A5B-44111EE9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4DC3C40-CC01-E38C-7B98-4089E516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EAE85C0-4271-D439-BA51-4CCD2F53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14AFCD6-A0CA-A60A-FACE-EFA46116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22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D79E4C-6DFB-C874-A319-1592BAA2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3F6D8E-F16E-AE99-9CA6-D5497DBAA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7E38760-BC21-0CDA-A8A5-848C48A96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1E67A93-FF32-327C-A534-B272F4B9D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4F947F6-E6EA-E200-5354-8A6661079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F284FF2-A4DF-6298-AECC-F3128B19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915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C2DA1E-67A3-856D-2EB7-BB22108A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93FC76A-EF46-F99D-63EA-6F4D4E048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8487F29-0138-4CE6-B0F1-1A8573275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62337B7-95F7-62D7-0633-BED3DDF88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C08C19E-5729-AD2A-14B2-B3013E301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4C6C149-45BD-6080-345D-676D4339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FAFDFB5-995E-8C66-5356-6DA265C5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D468C94-85D9-BE34-8DE0-EC226A01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495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F465B0-D028-8DDE-8530-487452A5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3478F1D-E8DB-CF33-8AEB-D4C1BD929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E3CF25A-5132-9D6D-592B-0EEE061D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3502C9E-7480-2658-FF78-002A8748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872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B20F77F-A170-8870-A4E9-7779F478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C1F34A3-4EF9-EC01-899F-6F6B980E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F2FCEDA-A2F3-6832-F43D-D26ABB78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096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6DDAAC-D6E0-8B07-6E60-DE40F156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C67BBB-8972-881F-8A48-D6AF7E7A5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26B3746-7014-08E6-AFE6-B59138218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9551B8B-73E5-26EE-9F50-950FD2CA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8D66DD8-C9D6-CE56-2630-F6DA1A9D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EB10B1B-00BF-C0FC-1BF8-52D8B547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4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7F833C-1264-7B42-8E8D-2CB48425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A489156-535F-E63E-037E-3BA14A000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D1E74C0-F7DE-F15A-4C4F-4780DE60A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C08F1D8-B400-1C6A-FBBA-4B8BB3FB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04CBC39-6874-C274-6122-DBCAA915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FF0F8FA-9175-E8E1-5B40-9A45840C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37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20BEB8-DD42-FD3B-A5B6-FAE7D354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7706F62-628B-EE6B-3876-BEE58B970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B4AE81A-A05F-EC87-28E7-CAFDEBE4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60280D1-7D2F-F7F0-7954-599D73A2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A0C8D9C-A898-7C72-EBCD-A40CA2C7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887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6E302A9-4227-D276-47AE-38A84F5A0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06E4C53-F983-0378-C36D-5700376E7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38EB586-62E3-7268-F9CD-4BACC512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1DDA15-3610-DDA7-5161-C3104061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64C78B2-62FC-BFCE-4624-8126770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028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16C6CF8-C482-71FF-7332-D016FF9FB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83F256-1969-656E-44EA-AC0FE89D8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AB2E97-27ED-A2A3-C86A-435BACF4E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CF9E7-DA06-445A-8513-71EEF4729829}" type="datetimeFigureOut">
              <a:rPr lang="hu-HU" smtClean="0"/>
              <a:t>2025. 11. 16.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95D73F0-4223-911D-9CE2-1E54DC0B3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0AC5070-C3B9-FF30-D7C0-AFC4125C8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CED86-3DA1-4C29-87E4-9371CE36E3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3876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képen kültéri, ég, fekete-fehér, hó látható&#10;&#10;Automatikusan generált leírás">
            <a:extLst>
              <a:ext uri="{FF2B5EF4-FFF2-40B4-BE49-F238E27FC236}">
                <a16:creationId xmlns:a16="http://schemas.microsoft.com/office/drawing/2014/main" id="{E0FE4429-78C5-DA14-63A6-852374FB7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9" t="9091" r="7926" b="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8F03353-1C18-3243-C241-A41E4AEE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100">
                <a:solidFill>
                  <a:schemeClr val="bg1"/>
                </a:solidFill>
              </a:rPr>
              <a:t>A tudomány és technológia a Kádár-korszakban</a:t>
            </a:r>
            <a:br>
              <a:rPr lang="en-US" sz="4100">
                <a:solidFill>
                  <a:schemeClr val="bg1"/>
                </a:solidFill>
              </a:rPr>
            </a:br>
            <a:br>
              <a:rPr lang="en-US" sz="4100">
                <a:solidFill>
                  <a:schemeClr val="bg1"/>
                </a:solidFill>
              </a:rPr>
            </a:br>
            <a:endParaRPr lang="en-US" sz="4100">
              <a:solidFill>
                <a:schemeClr val="bg1"/>
              </a:solidFill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F7155788-9C32-929F-A553-0540263A7579}"/>
              </a:ext>
            </a:extLst>
          </p:cNvPr>
          <p:cNvSpPr txBox="1"/>
          <p:nvPr/>
        </p:nvSpPr>
        <p:spPr>
          <a:xfrm>
            <a:off x="477980" y="4872922"/>
            <a:ext cx="402335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</a:rPr>
              <a:t>Solti Csongor Péter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69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4B6FF5-1FA2-F8FA-F27E-88A1F7D6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r>
              <a:rPr lang="hu-HU" sz="3200" b="0" i="0">
                <a:effectLst/>
              </a:rPr>
              <a:t> A korszak időkerete és politikai háttere</a:t>
            </a:r>
            <a:endParaRPr lang="hu-HU" sz="32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F6662D-10FB-9866-C967-83F356EFA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" r="3922" b="2"/>
          <a:stretch>
            <a:fillRect/>
          </a:stretch>
        </p:blipFill>
        <p:spPr bwMode="auto">
          <a:xfrm>
            <a:off x="-9886" y="10"/>
            <a:ext cx="757260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369EC1-64F5-A775-10ED-2A0332B31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hu-HU" sz="2000"/>
              <a:t>1956-1989 közötti Kádár-korszak</a:t>
            </a:r>
            <a:endParaRPr lang="en-GB" sz="2000"/>
          </a:p>
          <a:p>
            <a:r>
              <a:rPr lang="hu-HU" sz="2000"/>
              <a:t>konszolidáció, "gulyáskommunizmus", gazdasági reformok</a:t>
            </a:r>
            <a:endParaRPr lang="en-GB" sz="2000"/>
          </a:p>
          <a:p>
            <a:r>
              <a:rPr lang="hu-HU" sz="2000"/>
              <a:t>A tudomány és technológia szerepének jelentősége a fejlődésben</a:t>
            </a:r>
          </a:p>
        </p:txBody>
      </p:sp>
    </p:spTree>
    <p:extLst>
      <p:ext uri="{BB962C8B-B14F-4D97-AF65-F5344CB8AC3E}">
        <p14:creationId xmlns:p14="http://schemas.microsoft.com/office/powerpoint/2010/main" val="966956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DA0D74-4FF8-C8FD-DE01-C8B5B461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r>
              <a:rPr lang="hu-HU" sz="3200" b="0" i="0">
                <a:effectLst/>
              </a:rPr>
              <a:t>A tudomány szerepe a Kádár-korszakban</a:t>
            </a:r>
            <a:endParaRPr lang="hu-HU" sz="3200"/>
          </a:p>
        </p:txBody>
      </p:sp>
      <p:pic>
        <p:nvPicPr>
          <p:cNvPr id="3074" name="Picture 2" descr="Javaslatok a kifogásolható gyakorlatot folytató folyóiratok cikkeinek kezelésére – az MTA ajánlásai az új típusú publikációs visszaélésekkel kapcsolatban">
            <a:extLst>
              <a:ext uri="{FF2B5EF4-FFF2-40B4-BE49-F238E27FC236}">
                <a16:creationId xmlns:a16="http://schemas.microsoft.com/office/drawing/2014/main" id="{79BF0FC4-C732-23CA-66C0-EE821C12A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0" r="15284" b="-1"/>
          <a:stretch>
            <a:fillRect/>
          </a:stretch>
        </p:blipFill>
        <p:spPr bwMode="auto">
          <a:xfrm>
            <a:off x="-9886" y="10"/>
            <a:ext cx="757260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6" name="Straight Connector 3085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A6BE98-21E0-B025-532D-1CBCA44F6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en-GB" sz="2000"/>
              <a:t>MTA </a:t>
            </a:r>
            <a:r>
              <a:rPr lang="hu-HU" sz="2000"/>
              <a:t>mint tudományos elit és kutatóhálózat</a:t>
            </a:r>
            <a:endParaRPr lang="en-GB" sz="2000"/>
          </a:p>
          <a:p>
            <a:r>
              <a:rPr lang="hu-HU" sz="2000"/>
              <a:t>Egyetemek (pl. budapesti Műszaki Egyetem) tudományos központként</a:t>
            </a:r>
            <a:endParaRPr lang="en-GB" sz="2000"/>
          </a:p>
          <a:p>
            <a:r>
              <a:rPr lang="hu-HU" sz="2000"/>
              <a:t>Állami kutatóintézetek és magas szintű szakmai hálózatok</a:t>
            </a:r>
            <a:endParaRPr lang="en-GB" sz="2000"/>
          </a:p>
          <a:p>
            <a:r>
              <a:rPr lang="hu-HU" sz="2000"/>
              <a:t>Tudományos élet kormányzati támogatása és korlátai</a:t>
            </a:r>
          </a:p>
        </p:txBody>
      </p:sp>
    </p:spTree>
    <p:extLst>
      <p:ext uri="{BB962C8B-B14F-4D97-AF65-F5344CB8AC3E}">
        <p14:creationId xmlns:p14="http://schemas.microsoft.com/office/powerpoint/2010/main" val="268729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2E5072-4FA9-FEE4-6683-F1ABBC07D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r>
              <a:rPr lang="hu-HU" sz="3200"/>
              <a:t>Tudományos kutatás</a:t>
            </a:r>
          </a:p>
        </p:txBody>
      </p:sp>
      <p:pic>
        <p:nvPicPr>
          <p:cNvPr id="4098" name="Picture 2" descr="Kádár-korszak mindennapjai">
            <a:extLst>
              <a:ext uri="{FF2B5EF4-FFF2-40B4-BE49-F238E27FC236}">
                <a16:creationId xmlns:a16="http://schemas.microsoft.com/office/drawing/2014/main" id="{35B1ECB1-4871-F6E2-5128-A8C4AC404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8" r="30777" b="-1"/>
          <a:stretch>
            <a:fillRect/>
          </a:stretch>
        </p:blipFill>
        <p:spPr bwMode="auto">
          <a:xfrm>
            <a:off x="-9886" y="10"/>
            <a:ext cx="757260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9682F4-3C23-720B-5A3F-9945D1213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hu-HU" sz="2000"/>
              <a:t>inkább gyakorlati, gazdaságot szolgáló tudományok</a:t>
            </a:r>
            <a:endParaRPr lang="en-GB" sz="2000"/>
          </a:p>
          <a:p>
            <a:r>
              <a:rPr lang="hu-HU" sz="2000"/>
              <a:t>műszaki tudományok, elektronika, anyagtudomány, informatikai kezdeményezések</a:t>
            </a:r>
            <a:endParaRPr lang="en-GB" sz="2000"/>
          </a:p>
          <a:p>
            <a:r>
              <a:rPr lang="hu-HU" sz="2000"/>
              <a:t>Állami irányítás mellett zajló kutatások és innovációk</a:t>
            </a:r>
          </a:p>
        </p:txBody>
      </p:sp>
    </p:spTree>
    <p:extLst>
      <p:ext uri="{BB962C8B-B14F-4D97-AF65-F5344CB8AC3E}">
        <p14:creationId xmlns:p14="http://schemas.microsoft.com/office/powerpoint/2010/main" val="72778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2B80F0-C1F4-1D8B-D12E-1022373F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r>
              <a:rPr lang="hu-HU" sz="3200"/>
              <a:t>Technológiai fejlődés háztartásokban</a:t>
            </a:r>
          </a:p>
        </p:txBody>
      </p:sp>
      <p:pic>
        <p:nvPicPr>
          <p:cNvPr id="5124" name="Picture 4" descr="vintage photos of refrigerators and old advertisements">
            <a:extLst>
              <a:ext uri="{FF2B5EF4-FFF2-40B4-BE49-F238E27FC236}">
                <a16:creationId xmlns:a16="http://schemas.microsoft.com/office/drawing/2014/main" id="{32115F84-06C8-0017-A7EC-3938ED5C9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72"/>
          <a:stretch>
            <a:fillRect/>
          </a:stretch>
        </p:blipFill>
        <p:spPr bwMode="auto">
          <a:xfrm>
            <a:off x="-9886" y="10"/>
            <a:ext cx="757260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29" name="Straight Connector 512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58F8B9-5DB5-9D45-4378-222BBA386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hu-HU" sz="2000"/>
              <a:t>Háztartási gépek (hűtőszekrény, mosógép, porszívó) elterjedése a mindennapokban</a:t>
            </a:r>
            <a:endParaRPr lang="en-GB" sz="2000"/>
          </a:p>
          <a:p>
            <a:r>
              <a:rPr lang="hu-HU" sz="2000"/>
              <a:t>Média és szórakoztató elektronika fejlődése (pl. színes TV, magnetofonok)</a:t>
            </a:r>
            <a:endParaRPr lang="en-GB" sz="2000"/>
          </a:p>
          <a:p>
            <a:r>
              <a:rPr lang="hu-HU" sz="2000"/>
              <a:t>Elektronikai beruházások hatása az életminőségre</a:t>
            </a:r>
          </a:p>
        </p:txBody>
      </p:sp>
    </p:spTree>
    <p:extLst>
      <p:ext uri="{BB962C8B-B14F-4D97-AF65-F5344CB8AC3E}">
        <p14:creationId xmlns:p14="http://schemas.microsoft.com/office/powerpoint/2010/main" val="286473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8" name="Rectangle 615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EFD754-D3A9-93C1-5FF0-050C2A13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3"/>
            <a:ext cx="2910051" cy="5576768"/>
          </a:xfrm>
        </p:spPr>
        <p:txBody>
          <a:bodyPr anchor="t">
            <a:normAutofit/>
          </a:bodyPr>
          <a:lstStyle/>
          <a:p>
            <a:r>
              <a:rPr lang="hu-HU">
                <a:solidFill>
                  <a:schemeClr val="bg1"/>
                </a:solidFill>
              </a:rPr>
              <a:t>Az ipari technológia fejlődése</a:t>
            </a:r>
          </a:p>
        </p:txBody>
      </p:sp>
      <p:sp>
        <p:nvSpPr>
          <p:cNvPr id="6179" name="Rectangle 616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118" y="0"/>
            <a:ext cx="752987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Intel LD8085AH-2 Front View">
            <a:extLst>
              <a:ext uri="{FF2B5EF4-FFF2-40B4-BE49-F238E27FC236}">
                <a16:creationId xmlns:a16="http://schemas.microsoft.com/office/drawing/2014/main" id="{923241CB-5C17-7E11-B8F3-CEC31AAED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39976" y="1147358"/>
            <a:ext cx="5592818" cy="190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80" name="Rectangle 616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6" y="4006121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A922E5-04F4-8176-5752-20BFB541E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65" y="4212709"/>
            <a:ext cx="5605390" cy="2001821"/>
          </a:xfrm>
        </p:spPr>
        <p:txBody>
          <a:bodyPr>
            <a:normAutofit/>
          </a:bodyPr>
          <a:lstStyle/>
          <a:p>
            <a:r>
              <a:rPr lang="hu-HU" sz="1800"/>
              <a:t>A Videoton vállalat szerepe az elektronikai iparban, termékek (pl. TBK rádiók, televíziók)</a:t>
            </a:r>
            <a:endParaRPr lang="en-GB" sz="1800"/>
          </a:p>
          <a:p>
            <a:r>
              <a:rPr lang="hu-HU" sz="1800"/>
              <a:t>Mikroprocesszorok, számítástechnika kezdetei Magyarországon (Intel 8080, bevezetett nyugati technológiák)</a:t>
            </a:r>
            <a:endParaRPr lang="en-GB" sz="1800"/>
          </a:p>
          <a:p>
            <a:r>
              <a:rPr lang="hu-HU" sz="1800"/>
              <a:t>Ipari technológia korszerűsítése, exportlehetőségek</a:t>
            </a:r>
          </a:p>
        </p:txBody>
      </p:sp>
    </p:spTree>
    <p:extLst>
      <p:ext uri="{BB962C8B-B14F-4D97-AF65-F5344CB8AC3E}">
        <p14:creationId xmlns:p14="http://schemas.microsoft.com/office/powerpoint/2010/main" val="504409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4" name="Rectangle 719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A57605-2BC4-31B3-7246-4CB34FAF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3"/>
            <a:ext cx="2910051" cy="5576768"/>
          </a:xfrm>
        </p:spPr>
        <p:txBody>
          <a:bodyPr anchor="t"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A nyugati technológia beépítése és a hírszerzés szerepe</a:t>
            </a:r>
            <a:endParaRPr lang="hu-HU">
              <a:solidFill>
                <a:schemeClr val="bg1"/>
              </a:solidFill>
            </a:endParaRPr>
          </a:p>
        </p:txBody>
      </p:sp>
      <p:sp>
        <p:nvSpPr>
          <p:cNvPr id="7215" name="Rectangle 720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118" y="0"/>
            <a:ext cx="752987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Fedezd fel az IT ipar izgalmas történeteit a 70-es évekből">
            <a:extLst>
              <a:ext uri="{FF2B5EF4-FFF2-40B4-BE49-F238E27FC236}">
                <a16:creationId xmlns:a16="http://schemas.microsoft.com/office/drawing/2014/main" id="{C3E4EDDC-5579-A068-AE4B-399D7560A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6"/>
          <a:stretch>
            <a:fillRect/>
          </a:stretch>
        </p:blipFill>
        <p:spPr bwMode="auto">
          <a:xfrm>
            <a:off x="5439976" y="637762"/>
            <a:ext cx="5592818" cy="292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16" name="Rectangle 720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6" y="4006121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EE11FF-C5E0-FA16-AC71-6CFA1639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65" y="4212709"/>
            <a:ext cx="5605390" cy="2001821"/>
          </a:xfrm>
        </p:spPr>
        <p:txBody>
          <a:bodyPr>
            <a:normAutofit/>
          </a:bodyPr>
          <a:lstStyle/>
          <a:p>
            <a:r>
              <a:rPr lang="hu-HU" sz="1800"/>
              <a:t>Nyugati műszaki és technológiai újdonságok átvétele (legális és illegális módon)</a:t>
            </a:r>
            <a:endParaRPr lang="en-GB" sz="1800"/>
          </a:p>
          <a:p>
            <a:r>
              <a:rPr lang="hu-HU" sz="1800"/>
              <a:t>az úgynevezett "impexek" és technológialopások keleti blokkban</a:t>
            </a:r>
            <a:endParaRPr lang="en-GB" sz="1800"/>
          </a:p>
          <a:p>
            <a:r>
              <a:rPr lang="hu-HU" sz="1800"/>
              <a:t>Hírszerzés szerepe technológiai információk megszerzésében</a:t>
            </a:r>
          </a:p>
        </p:txBody>
      </p:sp>
    </p:spTree>
    <p:extLst>
      <p:ext uri="{BB962C8B-B14F-4D97-AF65-F5344CB8AC3E}">
        <p14:creationId xmlns:p14="http://schemas.microsoft.com/office/powerpoint/2010/main" val="140684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592084-D400-8DAB-7470-9E02C0877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hu-HU">
                <a:solidFill>
                  <a:schemeClr val="bg1"/>
                </a:solidFill>
              </a:rPr>
              <a:t>A gazdasági reformok és a technológia kapcsolata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92FFBC-820A-F3EC-FC3A-FBD867507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>
            <a:normAutofit/>
          </a:bodyPr>
          <a:lstStyle/>
          <a:p>
            <a:r>
              <a:rPr lang="hu-HU" sz="3600" dirty="0"/>
              <a:t>Új Gazdasági Mechanizmus (1968) technológiai innovációkhoz fűződő hatásai</a:t>
            </a:r>
            <a:endParaRPr lang="en-GB" sz="3600" dirty="0"/>
          </a:p>
          <a:p>
            <a:r>
              <a:rPr lang="hu-HU" sz="3600" dirty="0"/>
              <a:t>Technológiai fejlesztések ösztönzése a gazdasági stabilitás érdekében</a:t>
            </a:r>
            <a:endParaRPr lang="en-GB" sz="3600" dirty="0"/>
          </a:p>
          <a:p>
            <a:r>
              <a:rPr lang="hu-HU" sz="3600" dirty="0"/>
              <a:t>Külföldi tőke és technológia hatása</a:t>
            </a:r>
          </a:p>
        </p:txBody>
      </p:sp>
    </p:spTree>
    <p:extLst>
      <p:ext uri="{BB962C8B-B14F-4D97-AF65-F5344CB8AC3E}">
        <p14:creationId xmlns:p14="http://schemas.microsoft.com/office/powerpoint/2010/main" val="219020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58BCF47-9422-C669-0C86-F5E297FA8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hu-HU" sz="3700">
                <a:solidFill>
                  <a:schemeClr val="bg1"/>
                </a:solidFill>
              </a:rPr>
              <a:t>Tudomány és technika hatása a társadalomra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C9729B-D61E-6F1F-2242-DDD69271C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>
            <a:normAutofit/>
          </a:bodyPr>
          <a:lstStyle/>
          <a:p>
            <a:r>
              <a:rPr lang="hu-HU" sz="3600" dirty="0"/>
              <a:t>Modern fogyasztói társadalom kialakulása a technológia révén</a:t>
            </a:r>
            <a:endParaRPr lang="en-GB" sz="3600" dirty="0"/>
          </a:p>
          <a:p>
            <a:r>
              <a:rPr lang="hu-HU" sz="3600" dirty="0"/>
              <a:t>Javuló életkörülmények, integrált oktatás és képzés</a:t>
            </a:r>
            <a:endParaRPr lang="en-GB" sz="3600" dirty="0"/>
          </a:p>
          <a:p>
            <a:r>
              <a:rPr lang="hu-HU" sz="3600" dirty="0"/>
              <a:t>Tudományos-technológiai fejlődés társadalmi mobilitásban és életstílusban</a:t>
            </a:r>
          </a:p>
        </p:txBody>
      </p:sp>
    </p:spTree>
    <p:extLst>
      <p:ext uri="{BB962C8B-B14F-4D97-AF65-F5344CB8AC3E}">
        <p14:creationId xmlns:p14="http://schemas.microsoft.com/office/powerpoint/2010/main" val="183217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8A534B6-511E-12CE-7EEC-F753452C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hu-HU" sz="3700">
                <a:solidFill>
                  <a:schemeClr val="bg1"/>
                </a:solidFill>
              </a:rPr>
              <a:t>Politikai környezet és technológiai fejlődés összefüggése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1DDB9C-848F-CCF8-3970-9F4607286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>
            <a:normAutofit/>
          </a:bodyPr>
          <a:lstStyle/>
          <a:p>
            <a:r>
              <a:rPr lang="hu-HU" sz="3600" dirty="0"/>
              <a:t>Politikai stabilitás és a kutatás-fejlesztés támogatása</a:t>
            </a:r>
            <a:endParaRPr lang="en-GB" sz="3600" dirty="0"/>
          </a:p>
          <a:p>
            <a:r>
              <a:rPr lang="hu-HU" sz="3600" dirty="0"/>
              <a:t>Cenzúra, ideológiai kontroll a tudományos életben</a:t>
            </a:r>
            <a:endParaRPr lang="en-GB" sz="3600" dirty="0"/>
          </a:p>
          <a:p>
            <a:r>
              <a:rPr lang="hu-HU" sz="3600" dirty="0"/>
              <a:t>Technológiai fejlesztések korlát</a:t>
            </a:r>
            <a:r>
              <a:rPr lang="en-GB" sz="3600" dirty="0"/>
              <a:t>j</a:t>
            </a:r>
            <a:r>
              <a:rPr lang="hu-HU" sz="3600" dirty="0" err="1"/>
              <a:t>ai</a:t>
            </a:r>
            <a:r>
              <a:rPr lang="hu-HU" sz="3600" dirty="0"/>
              <a:t> politikai szempontból</a:t>
            </a:r>
          </a:p>
        </p:txBody>
      </p:sp>
    </p:spTree>
    <p:extLst>
      <p:ext uri="{BB962C8B-B14F-4D97-AF65-F5344CB8AC3E}">
        <p14:creationId xmlns:p14="http://schemas.microsoft.com/office/powerpoint/2010/main" val="234853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0516B1B-E134-BEBF-04DB-B0EE9FF9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hu-HU" sz="3700">
                <a:solidFill>
                  <a:schemeClr val="bg1"/>
                </a:solidFill>
              </a:rPr>
              <a:t>A Kádár korszak tudományos-technológiai öröksége</a:t>
            </a: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rtalom helye 2">
            <a:extLst>
              <a:ext uri="{FF2B5EF4-FFF2-40B4-BE49-F238E27FC236}">
                <a16:creationId xmlns:a16="http://schemas.microsoft.com/office/drawing/2014/main" id="{8EF55D38-324E-690F-E7C9-7B5A3DFB8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926353"/>
              </p:ext>
            </p:extLst>
          </p:nvPr>
        </p:nvGraphicFramePr>
        <p:xfrm>
          <a:off x="5439954" y="637762"/>
          <a:ext cx="560540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43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F7D45DD-3D77-6EAB-A1EC-C0652D8B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hu-HU">
                <a:solidFill>
                  <a:schemeClr val="bg1"/>
                </a:solidFill>
              </a:rPr>
              <a:t>Források</a:t>
            </a: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7" name="Tartalom helye 2">
            <a:extLst>
              <a:ext uri="{FF2B5EF4-FFF2-40B4-BE49-F238E27FC236}">
                <a16:creationId xmlns:a16="http://schemas.microsoft.com/office/drawing/2014/main" id="{9BCE1F7A-5686-1B94-AAEC-EAFBEF7E1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56773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242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313</Words>
  <Application>Microsoft Office PowerPoint</Application>
  <PresentationFormat>Szélesvásznú</PresentationFormat>
  <Paragraphs>46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Office-téma</vt:lpstr>
      <vt:lpstr>A tudomány és technológia a Kádár-korszakban  </vt:lpstr>
      <vt:lpstr> A korszak időkerete és politikai háttere</vt:lpstr>
      <vt:lpstr>A tudomány szerepe a Kádár-korszakban</vt:lpstr>
      <vt:lpstr>Tudományos kutatás</vt:lpstr>
      <vt:lpstr>Technológiai fejlődés háztartásokban</vt:lpstr>
      <vt:lpstr>Az ipari technológia fejlődése</vt:lpstr>
      <vt:lpstr>A nyugati technológia beépítése és a hírszerzés szerepe</vt:lpstr>
      <vt:lpstr>A gazdasági reformok és a technológia kapcsolata</vt:lpstr>
      <vt:lpstr>Tudomány és technika hatása a társadalomra</vt:lpstr>
      <vt:lpstr>Politikai környezet és technológiai fejlődés összefüggése</vt:lpstr>
      <vt:lpstr>A Kádár korszak tudományos-technológiai öröksége</vt:lpstr>
      <vt:lpstr>Források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Csongor Péter Solti</dc:creator>
  <cp:lastModifiedBy>Csongor Péter Solti</cp:lastModifiedBy>
  <cp:revision>59</cp:revision>
  <dcterms:created xsi:type="dcterms:W3CDTF">2025-11-16T11:41:05Z</dcterms:created>
  <dcterms:modified xsi:type="dcterms:W3CDTF">2025-11-16T16:35:47Z</dcterms:modified>
</cp:coreProperties>
</file>