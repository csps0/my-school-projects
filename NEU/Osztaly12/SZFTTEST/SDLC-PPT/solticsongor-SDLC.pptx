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2E02DC-2B16-4A6D-0A10-A77D5EDC1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F6DEF2-B998-3F32-D378-66D2741E9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237E1FB-E2BA-B161-B7D2-9C915EE3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C39BA7C-2B7B-F356-EE19-D899EC6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84C5C16-620E-883C-F836-10AFE9AC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554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EA75D3E-7173-6CAD-FCF5-4762A772A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F6DDFC-6367-61F2-9ACD-F726EE77F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D4B2CB6-F2C0-B523-45AB-F9AAFFEA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33F4005-53A3-E4FA-3862-A7C7DD98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23D3068-BF99-66A1-A9FC-03A61B78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526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02E39C-F9B1-B997-1FF8-C5F7B275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92DAD4A-C792-2F2F-ADF1-0C37E3A71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2B250A3-4C1D-A215-2AC8-15E03C3F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0170C29-4DDE-8661-0858-A6D242F5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CBA5F34-C106-71F9-CAC3-6A42A2D7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51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1697B7-11E6-125D-BA78-48160FF0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B80204-1C1F-92D1-129C-7B4A516C6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BFFA3E5-399F-5E05-A701-188CAED95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D24E4BE-FF46-3C3C-BA2A-49932C47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663973C-4C20-E448-881B-0E5D5FAF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73210B0-97D7-85D4-A052-C8688B133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079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751E83-3AC1-3DA1-2454-5B17D21EA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05B00B6-0A67-F4E5-CAC1-9116C7EF4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982490B-FB4B-1C24-EE1E-AFB8BB16E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FA3E91B-16F4-2B1F-2857-9F5793C59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AEB0DFC-A00D-BC78-1048-3B6934103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B312464-1171-DF0B-B68B-57C1769A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88F553B-FA08-3A17-D3FA-4EB76B237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4210069-EB26-7A9A-8688-92FDF838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2577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16A970-A6F7-95CB-779C-49C2D594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EFF4239-C96C-86B5-B9AB-C8D631C7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E6EA887-7814-962C-D6B5-20557FE7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BA4B772-B1E3-FE9D-CCF8-F8E6C505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603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440A86A-E4C7-6B11-A00B-34F5E6810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30FFD88-8928-6382-342C-F6669A3A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CC4ED75-4091-13FF-75D5-FA2C8E0A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514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0FEC13-424C-519E-17CB-5389E690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B60947-74D0-A805-B857-EAD446628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384CD07-E4FE-A19A-21F5-E74FBBF41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3033B8-9DC8-A90B-BB16-8BE41C8A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509325-716D-DDF3-50EA-0C792B16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B1BE34F-4A1A-62E3-CDF2-5609F8F2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2584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4A3FC5-F5B8-FC2F-B1A2-3BB2BFBC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33E6D2C0-21B6-6F27-D24E-E2ACD15BC0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0C790DC-48EC-C516-D7A9-E5B5D071F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197E9F8-2FE1-D20C-12D4-03F66166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5700731-9D5E-E12C-4BD2-0CEAE658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74D5821-C6E6-79D7-5173-F800CF07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1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25C6-0E68-3AB7-CD25-719BF666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8419A8F-8459-14A3-F069-2575329AC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26CAE20-E0BC-E26C-C1BE-554B6806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686BCA8-3847-441B-AE31-97F9D767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D8D80CA-2AC6-61EC-B1C4-A12B78BC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189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B7A2B3BB-917A-29EC-05F2-CC55843CE6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24E9D05-4C5B-11A0-3D2E-0596D8AF1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D8BECF7-64C6-AD77-8160-C93831B3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0F10AC8-56DF-CDBE-F7A6-45EF932A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FC2225-3327-516B-178F-DB4F3DC1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7629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0BDF12-82B6-9A2B-1E16-534029AE4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0105F6B-59FD-2678-591B-2657FA031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63717B-2C4B-0AE9-2B20-2A94CDBC4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FCA7D7-E1E6-9075-A513-B5BB087A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DD03F6-893A-774B-E543-C00DB690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1437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2BF8F89-6E87-BFB8-7690-AD36698E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D03A2EA-223E-CB02-EFB8-394EEA024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740119A-2A17-7282-770D-6B3AECE7B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17678-4D48-4F78-8DD7-86F57F18283A}" type="datetimeFigureOut">
              <a:rPr lang="hu-HU" smtClean="0"/>
              <a:t>2025. 10. 07.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398C1D7-3BB8-D9BC-CDD7-B8EAA44E6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26E6956-0966-B532-CFB8-D5B06FE91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97812-4144-4FC2-A6DA-8E4F410D460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81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teel_thread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news.ycombinator.com/item?id=350909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3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0A271-8BD7-61F0-7329-E63980F7EDE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1515" r="11513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20" name="Rectangle 1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E7968D4-64C3-5C63-8B44-3CEBB8627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hu-HU" sz="5000">
                <a:solidFill>
                  <a:schemeClr val="bg1"/>
                </a:solidFill>
              </a:rPr>
              <a:t>A Steel Thread modell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5E07F14-CF80-09DB-C354-71CEAC429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hu-HU" sz="2000">
                <a:solidFill>
                  <a:schemeClr val="bg1"/>
                </a:solidFill>
              </a:rPr>
              <a:t>Egy ritka megközelítés a szoftverfejlesztésben﻿</a:t>
            </a:r>
          </a:p>
          <a:p>
            <a:pPr algn="l"/>
            <a:endParaRPr lang="hu-HU" sz="200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65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8" name="Rectangle 308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Sdlc System Development Life Cycle Acronym Business Concept Blackboard — Stock Photo, Image">
            <a:extLst>
              <a:ext uri="{FF2B5EF4-FFF2-40B4-BE49-F238E27FC236}">
                <a16:creationId xmlns:a16="http://schemas.microsoft.com/office/drawing/2014/main" id="{A83D7E1D-63DF-E6B7-2244-AAA10C1DD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17" b="-1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9" name="Rectangle 308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0F4AAC-F458-DA72-D675-8F34CE7F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Bevezetés</a:t>
            </a:r>
          </a:p>
        </p:txBody>
      </p:sp>
      <p:sp>
        <p:nvSpPr>
          <p:cNvPr id="3090" name="Rectangle 308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06BF977-CD1F-B29B-F26C-18D06547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A legtöbb szoftverprojekt ismert SDLC modelleken alapul</a:t>
            </a:r>
          </a:p>
          <a:p>
            <a:r>
              <a:rPr lang="en-US" sz="1700">
                <a:solidFill>
                  <a:schemeClr val="bg1"/>
                </a:solidFill>
              </a:rPr>
              <a:t>Néhány megközelítés, például a Steel Thread modell sokkal kevésbé elterjedt</a:t>
            </a:r>
          </a:p>
          <a:p>
            <a:r>
              <a:rPr lang="en-US" sz="1700" b="0" i="0">
                <a:solidFill>
                  <a:schemeClr val="bg1"/>
                </a:solidFill>
                <a:effectLst/>
              </a:rPr>
              <a:t>Ez a prezentáció a Steel Thread modell elveit, folyamatát és előnyeit mutatja be</a:t>
            </a:r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8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7D1E9DF-0488-AA5F-0E92-065D33071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 a Steel Thread modell?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E9A4E0B-8A92-7829-6D19-980506FDB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Az egész rendszeren végigfutó, vékony, funkcionális “szál” megépítésére fókuszál</a:t>
            </a:r>
          </a:p>
          <a:p>
            <a:r>
              <a:rPr lang="en-US" sz="2000">
                <a:solidFill>
                  <a:schemeClr val="bg1"/>
                </a:solidFill>
              </a:rPr>
              <a:t>Lehetővé teszi az architektúra, az integráció és a funkcionalitás korai bemutatását</a:t>
            </a:r>
          </a:p>
          <a:p>
            <a:r>
              <a:rPr lang="en-US" sz="2000">
                <a:solidFill>
                  <a:schemeClr val="bg1"/>
                </a:solidFill>
              </a:rPr>
              <a:t>Minimálisan működőképes, tesztelhető szeletet hoz létre a termékből</a:t>
            </a:r>
          </a:p>
        </p:txBody>
      </p:sp>
    </p:spTree>
    <p:extLst>
      <p:ext uri="{BB962C8B-B14F-4D97-AF65-F5344CB8AC3E}">
        <p14:creationId xmlns:p14="http://schemas.microsoft.com/office/powerpoint/2010/main" val="409308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The Agile/Security Development Life Cycle (A/SDLC): Integrating Security Functionality into the SDLC ~SECOND EDITION">
            <a:extLst>
              <a:ext uri="{FF2B5EF4-FFF2-40B4-BE49-F238E27FC236}">
                <a16:creationId xmlns:a16="http://schemas.microsoft.com/office/drawing/2014/main" id="{27A29E14-FC10-5744-C087-DF9F28DD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71" r="9091" b="27903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6C6BC01-66E0-00C3-7DE7-02EB6FE91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Miért egyedi és ritka?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B5F7949-7162-6429-A499-140F1DBC0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Ritkán dokumentált a főbb SDLC tankönyvekben</a:t>
            </a:r>
          </a:p>
          <a:p>
            <a:r>
              <a:rPr lang="en-US" sz="1700">
                <a:solidFill>
                  <a:schemeClr val="bg1"/>
                </a:solidFill>
              </a:rPr>
              <a:t>Néha összekeverik a “tracer bullet” vagy a “vertical slice” technikákkal, de sajátos hangsúlyai vannak</a:t>
            </a:r>
          </a:p>
          <a:p>
            <a:r>
              <a:rPr lang="en-US" sz="1700">
                <a:solidFill>
                  <a:schemeClr val="bg1"/>
                </a:solidFill>
              </a:rPr>
              <a:t>Elsősorban innovatív vagy kockázatos projektekben használják</a:t>
            </a:r>
          </a:p>
        </p:txBody>
      </p:sp>
    </p:spTree>
    <p:extLst>
      <p:ext uri="{BB962C8B-B14F-4D97-AF65-F5344CB8AC3E}">
        <p14:creationId xmlns:p14="http://schemas.microsoft.com/office/powerpoint/2010/main" val="280246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gile Hardware Starts As A Steel Thread">
            <a:extLst>
              <a:ext uri="{FF2B5EF4-FFF2-40B4-BE49-F238E27FC236}">
                <a16:creationId xmlns:a16="http://schemas.microsoft.com/office/drawing/2014/main" id="{35D35A79-CCDF-7A04-2575-67045C6A6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" t="6977" r="32185" b="1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CF4F22B-ED5A-BD3E-2F88-F2F7DE423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Hogyan működik a modell?</a:t>
            </a: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755DD05-78CD-FBFB-4C91-28FE4CC29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A legfontosabb üzleti eset kiválasztásával indul</a:t>
            </a:r>
          </a:p>
          <a:p>
            <a:r>
              <a:rPr lang="en-US" sz="1700">
                <a:solidFill>
                  <a:schemeClr val="bg1"/>
                </a:solidFill>
              </a:rPr>
              <a:t>Vékony, működő vertikális szeletet épít az UI-tól az adatbázisig</a:t>
            </a:r>
          </a:p>
          <a:p>
            <a:r>
              <a:rPr lang="en-US" sz="1700">
                <a:solidFill>
                  <a:schemeClr val="bg1"/>
                </a:solidFill>
              </a:rPr>
              <a:t>Ezt a korai vertikális integrációt tesztelik és bemutatják</a:t>
            </a:r>
          </a:p>
          <a:p>
            <a:r>
              <a:rPr lang="en-US" sz="1700">
                <a:solidFill>
                  <a:schemeClr val="bg1"/>
                </a:solidFill>
              </a:rPr>
              <a:t>Fokozatosan bővítik a többi funkcióval úgy, hogy a meglévő folyamatok végig működőképesek maradnak</a:t>
            </a:r>
          </a:p>
        </p:txBody>
      </p:sp>
    </p:spTree>
    <p:extLst>
      <p:ext uri="{BB962C8B-B14F-4D97-AF65-F5344CB8AC3E}">
        <p14:creationId xmlns:p14="http://schemas.microsoft.com/office/powerpoint/2010/main" val="56281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C665656-96DF-6EF0-90A6-97548F08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Fő jellemzők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0CECA5C-12B7-CBBC-7332-AFD57318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Korai architekturális érvényesítés</a:t>
            </a:r>
          </a:p>
          <a:p>
            <a:r>
              <a:rPr lang="en-US" sz="2000">
                <a:solidFill>
                  <a:schemeClr val="bg1"/>
                </a:solidFill>
              </a:rPr>
              <a:t>Minden réteget érint – a frontendtől a backendig</a:t>
            </a:r>
          </a:p>
          <a:p>
            <a:r>
              <a:rPr lang="en-US" sz="2000">
                <a:solidFill>
                  <a:schemeClr val="bg1"/>
                </a:solidFill>
              </a:rPr>
              <a:t>Rendszeres, kiadható inkrementumok</a:t>
            </a:r>
          </a:p>
          <a:p>
            <a:r>
              <a:rPr lang="en-US" sz="2000">
                <a:solidFill>
                  <a:schemeClr val="bg1"/>
                </a:solidFill>
              </a:rPr>
              <a:t>Gyors kockázatfeltárást segít elő</a:t>
            </a:r>
          </a:p>
        </p:txBody>
      </p:sp>
    </p:spTree>
    <p:extLst>
      <p:ext uri="{BB962C8B-B14F-4D97-AF65-F5344CB8AC3E}">
        <p14:creationId xmlns:p14="http://schemas.microsoft.com/office/powerpoint/2010/main" val="229996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CC853A6-61F4-67F3-E3EF-925471B4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8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Előnyök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E29A1CC-17C8-979A-4F3B-4BA19B2A1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Korán felszínre hozza az integrációs kockázatokat</a:t>
            </a:r>
          </a:p>
          <a:p>
            <a:r>
              <a:rPr lang="en-US" sz="2000">
                <a:solidFill>
                  <a:schemeClr val="bg1"/>
                </a:solidFill>
              </a:rPr>
              <a:t>Folyamatos visszacsatolásra és finomhangolásra ad lehetőséget</a:t>
            </a:r>
          </a:p>
          <a:p>
            <a:r>
              <a:rPr lang="en-US" sz="2000">
                <a:solidFill>
                  <a:schemeClr val="bg1"/>
                </a:solidFill>
              </a:rPr>
              <a:t>Bizalmat épít a rendszer működésében már a legelejétől</a:t>
            </a:r>
          </a:p>
          <a:p>
            <a:r>
              <a:rPr lang="en-US" sz="2000">
                <a:solidFill>
                  <a:schemeClr val="bg1"/>
                </a:solidFill>
              </a:rPr>
              <a:t>Gyors út a minimálisan működőképes termékig (MVP)</a:t>
            </a:r>
          </a:p>
        </p:txBody>
      </p:sp>
    </p:spTree>
    <p:extLst>
      <p:ext uri="{BB962C8B-B14F-4D97-AF65-F5344CB8AC3E}">
        <p14:creationId xmlns:p14="http://schemas.microsoft.com/office/powerpoint/2010/main" val="248297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Spaghetti code concept Spaghetti code concept or disorganized code source programming illustrated with spaghettis and keyboard cord on a gray background. spaghetti code stock pictures, royalty-free photos &amp; images">
            <a:extLst>
              <a:ext uri="{FF2B5EF4-FFF2-40B4-BE49-F238E27FC236}">
                <a16:creationId xmlns:a16="http://schemas.microsoft.com/office/drawing/2014/main" id="{7BEA4607-97BB-0550-1787-AE43C5DBD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2" r="-1" b="40133"/>
          <a:stretch>
            <a:fillRect/>
          </a:stretch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F050C1-8656-6AE1-3369-62E28349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Kihívások és korlátok</a:t>
            </a:r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70BD488-A46E-67FC-5461-DF2C3044E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solidFill>
                  <a:schemeClr val="bg1"/>
                </a:solidFill>
              </a:rPr>
              <a:t>Nincs hivatalosan szabványosítva – nehéz tanulni és tanítani</a:t>
            </a:r>
          </a:p>
          <a:p>
            <a:r>
              <a:rPr lang="en-US" sz="1700">
                <a:solidFill>
                  <a:schemeClr val="bg1"/>
                </a:solidFill>
              </a:rPr>
              <a:t>Ha nem kezelik jól, könnyen “spagetti kódhoz” vezethet</a:t>
            </a:r>
          </a:p>
          <a:p>
            <a:r>
              <a:rPr lang="en-US" sz="1700">
                <a:solidFill>
                  <a:schemeClr val="bg1"/>
                </a:solidFill>
              </a:rPr>
              <a:t>Nem mindenhol alkalmazható, például szigorúan szabályozott vagy rétegzett rendszerekben</a:t>
            </a:r>
          </a:p>
        </p:txBody>
      </p:sp>
    </p:spTree>
    <p:extLst>
      <p:ext uri="{BB962C8B-B14F-4D97-AF65-F5344CB8AC3E}">
        <p14:creationId xmlns:p14="http://schemas.microsoft.com/office/powerpoint/2010/main" val="3828344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015A78-7046-F92A-BE18-B56CA2029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Hol érdemes használni a Steel Thread modellt?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A3E73BE-C015-4CFF-DC5B-AEC9776C1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Startupoknál MVP fejlesztéshez</a:t>
            </a:r>
          </a:p>
          <a:p>
            <a:r>
              <a:rPr lang="en-US" sz="2000">
                <a:solidFill>
                  <a:schemeClr val="bg1"/>
                </a:solidFill>
              </a:rPr>
              <a:t>Régi rendszerek modernizálása esetén</a:t>
            </a:r>
          </a:p>
          <a:p>
            <a:r>
              <a:rPr lang="en-US" sz="2000">
                <a:solidFill>
                  <a:schemeClr val="bg1"/>
                </a:solidFill>
              </a:rPr>
              <a:t>Nagy integrációs vagy architekturális kockázatú projektekben</a:t>
            </a:r>
          </a:p>
        </p:txBody>
      </p:sp>
    </p:spTree>
    <p:extLst>
      <p:ext uri="{BB962C8B-B14F-4D97-AF65-F5344CB8AC3E}">
        <p14:creationId xmlns:p14="http://schemas.microsoft.com/office/powerpoint/2010/main" val="151366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AAF9278-91B4-CE04-F30A-096D2E9F9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Nemzetközi</a:t>
            </a:r>
            <a: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és </a:t>
            </a:r>
            <a:r>
              <a:rPr lang="en-US" sz="5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privát</a:t>
            </a:r>
            <a: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projektek</a:t>
            </a:r>
            <a: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5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modellel</a:t>
            </a:r>
            <a:endParaRPr lang="en-US" sz="5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F2F6BAD-066E-C55E-C830-4B87C01CB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60312" y="3664830"/>
            <a:ext cx="5081859" cy="17425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2000" dirty="0" err="1">
                <a:solidFill>
                  <a:schemeClr val="bg1"/>
                </a:solidFill>
              </a:rPr>
              <a:t>Nemzetközi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sikerek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Startupok</a:t>
            </a:r>
            <a:r>
              <a:rPr lang="en-US" sz="2000" dirty="0">
                <a:solidFill>
                  <a:schemeClr val="bg1"/>
                </a:solidFill>
              </a:rPr>
              <a:t> MVP </a:t>
            </a:r>
            <a:r>
              <a:rPr lang="en-US" sz="2000" dirty="0" err="1">
                <a:solidFill>
                  <a:schemeClr val="bg1"/>
                </a:solidFill>
              </a:rPr>
              <a:t>fejlesztése</a:t>
            </a:r>
            <a:r>
              <a:rPr lang="en-US" sz="2000" dirty="0">
                <a:solidFill>
                  <a:schemeClr val="bg1"/>
                </a:solidFill>
              </a:rPr>
              <a:t> Seattle-ben és </a:t>
            </a:r>
            <a:r>
              <a:rPr lang="en-US" sz="2000" dirty="0" err="1">
                <a:solidFill>
                  <a:schemeClr val="bg1"/>
                </a:solidFill>
              </a:rPr>
              <a:t>Berlinben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Microservice </a:t>
            </a:r>
            <a:r>
              <a:rPr lang="en-US" sz="2000" dirty="0" err="1">
                <a:solidFill>
                  <a:schemeClr val="bg1"/>
                </a:solidFill>
              </a:rPr>
              <a:t>migrációk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nagyvállalatoknál</a:t>
            </a:r>
            <a:r>
              <a:rPr lang="en-US" sz="2000" dirty="0">
                <a:solidFill>
                  <a:schemeClr val="bg1"/>
                </a:solidFill>
              </a:rPr>
              <a:t>, pl. IBM és Spotify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905402A-F1E0-186E-4F94-85A009EC4DEF}"/>
              </a:ext>
            </a:extLst>
          </p:cNvPr>
          <p:cNvSpPr txBox="1"/>
          <p:nvPr/>
        </p:nvSpPr>
        <p:spPr>
          <a:xfrm>
            <a:off x="5960312" y="1450655"/>
            <a:ext cx="5081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u-HU" dirty="0">
                <a:solidFill>
                  <a:schemeClr val="bg1"/>
                </a:solidFill>
              </a:rPr>
              <a:t>Privát projektek: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Közepes méretű szoftverfejlesztő cégek prototípusai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Egyéni fejlesztők régi rendszerek modernizálására használták</a:t>
            </a:r>
          </a:p>
        </p:txBody>
      </p:sp>
    </p:spTree>
    <p:extLst>
      <p:ext uri="{BB962C8B-B14F-4D97-AF65-F5344CB8AC3E}">
        <p14:creationId xmlns:p14="http://schemas.microsoft.com/office/powerpoint/2010/main" val="1764742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6768CD3-8D1E-6BEC-691A-C2052CEF4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Összegzés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40F085E-E455-F06F-611D-B31C193D7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A Steel Thread modell lehetővé teszi a korai integrációt és érvényesítést</a:t>
            </a:r>
          </a:p>
          <a:p>
            <a:r>
              <a:rPr lang="en-US" sz="2000">
                <a:solidFill>
                  <a:schemeClr val="bg1"/>
                </a:solidFill>
              </a:rPr>
              <a:t>Egyedi, vertikális megközelítése erőteljes, de alig ismert</a:t>
            </a:r>
          </a:p>
          <a:p>
            <a:r>
              <a:rPr lang="en-US" sz="2000">
                <a:solidFill>
                  <a:schemeClr val="bg1"/>
                </a:solidFill>
              </a:rPr>
              <a:t>Értékes olyan projekteknek, ahol gyors visszacsatolásra és bizonyított architektúrára van szükség</a:t>
            </a:r>
          </a:p>
        </p:txBody>
      </p:sp>
    </p:spTree>
    <p:extLst>
      <p:ext uri="{BB962C8B-B14F-4D97-AF65-F5344CB8AC3E}">
        <p14:creationId xmlns:p14="http://schemas.microsoft.com/office/powerpoint/2010/main" val="1683030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0" name="Picture 2" descr="The lion tiktok template">
            <a:extLst>
              <a:ext uri="{FF2B5EF4-FFF2-40B4-BE49-F238E27FC236}">
                <a16:creationId xmlns:a16="http://schemas.microsoft.com/office/drawing/2014/main" id="{85F5013E-6B50-CA30-3B5A-2B408F0A3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2823" y="289870"/>
            <a:ext cx="2665189" cy="2665189"/>
          </a:xfrm>
          <a:custGeom>
            <a:avLst/>
            <a:gdLst/>
            <a:ahLst/>
            <a:cxnLst/>
            <a:rect l="l" t="t" r="r" b="b"/>
            <a:pathLst>
              <a:path w="2255084" h="2255084">
                <a:moveTo>
                  <a:pt x="1127542" y="0"/>
                </a:moveTo>
                <a:cubicBezTo>
                  <a:pt x="1750266" y="0"/>
                  <a:pt x="2255084" y="504818"/>
                  <a:pt x="2255084" y="1127542"/>
                </a:cubicBezTo>
                <a:cubicBezTo>
                  <a:pt x="2255084" y="1750266"/>
                  <a:pt x="1750266" y="2255084"/>
                  <a:pt x="1127542" y="2255084"/>
                </a:cubicBezTo>
                <a:cubicBezTo>
                  <a:pt x="504818" y="2255084"/>
                  <a:pt x="0" y="1750266"/>
                  <a:pt x="0" y="1127542"/>
                </a:cubicBezTo>
                <a:cubicBezTo>
                  <a:pt x="0" y="504818"/>
                  <a:pt x="504818" y="0"/>
                  <a:pt x="1127542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Oval 7176">
            <a:extLst>
              <a:ext uri="{FF2B5EF4-FFF2-40B4-BE49-F238E27FC236}">
                <a16:creationId xmlns:a16="http://schemas.microsoft.com/office/drawing/2014/main" id="{8EEB3127-4A39-4F76-935D-6AC8D51AC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8562" y="2003061"/>
            <a:ext cx="4288094" cy="4288094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Oval 7178">
            <a:extLst>
              <a:ext uri="{FF2B5EF4-FFF2-40B4-BE49-F238E27FC236}">
                <a16:creationId xmlns:a16="http://schemas.microsoft.com/office/drawing/2014/main" id="{98F2E216-6526-433B-8072-DEE222DC9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929" y="2003061"/>
            <a:ext cx="4288094" cy="4288094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81" name="Oval 7180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1925092"/>
            <a:ext cx="4288094" cy="428809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434F70-811B-5DC6-1025-5181054F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567199"/>
            <a:ext cx="4031808" cy="305305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Köszönöm a figyelmet! &amp; Források</a:t>
            </a:r>
          </a:p>
        </p:txBody>
      </p:sp>
      <p:grpSp>
        <p:nvGrpSpPr>
          <p:cNvPr id="718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7184" name="Freeform: Shape 7183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5" name="Freeform: Shape 7184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187" name="Graphic 4">
            <a:extLst>
              <a:ext uri="{FF2B5EF4-FFF2-40B4-BE49-F238E27FC236}">
                <a16:creationId xmlns:a16="http://schemas.microsoft.com/office/drawing/2014/main" id="{0AD1D347-1879-4D73-8825-EB52119D1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7188" name="Freeform: Shape 7187">
              <a:extLst>
                <a:ext uri="{FF2B5EF4-FFF2-40B4-BE49-F238E27FC236}">
                  <a16:creationId xmlns:a16="http://schemas.microsoft.com/office/drawing/2014/main" id="{7F1D1C6D-7D18-44AC-80B7-823AD45FD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89" name="Freeform: Shape 7188">
              <a:extLst>
                <a:ext uri="{FF2B5EF4-FFF2-40B4-BE49-F238E27FC236}">
                  <a16:creationId xmlns:a16="http://schemas.microsoft.com/office/drawing/2014/main" id="{070CF9AD-9B31-49A2-8AF5-69B249840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0" name="Freeform: Shape 7189">
              <a:extLst>
                <a:ext uri="{FF2B5EF4-FFF2-40B4-BE49-F238E27FC236}">
                  <a16:creationId xmlns:a16="http://schemas.microsoft.com/office/drawing/2014/main" id="{4E9D0A03-A290-4C8D-8498-85F0E5B1A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1" name="Freeform: Shape 7190">
              <a:extLst>
                <a:ext uri="{FF2B5EF4-FFF2-40B4-BE49-F238E27FC236}">
                  <a16:creationId xmlns:a16="http://schemas.microsoft.com/office/drawing/2014/main" id="{5F4661E7-465D-4874-BC3A-E55093CD3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2" name="Freeform: Shape 7191">
              <a:extLst>
                <a:ext uri="{FF2B5EF4-FFF2-40B4-BE49-F238E27FC236}">
                  <a16:creationId xmlns:a16="http://schemas.microsoft.com/office/drawing/2014/main" id="{EB79F073-B639-485B-93F6-958951EF3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3" name="Freeform: Shape 7192">
              <a:extLst>
                <a:ext uri="{FF2B5EF4-FFF2-40B4-BE49-F238E27FC236}">
                  <a16:creationId xmlns:a16="http://schemas.microsoft.com/office/drawing/2014/main" id="{9153A942-5C48-4EF4-AA18-82AC90C55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4" name="Freeform: Shape 7193">
              <a:extLst>
                <a:ext uri="{FF2B5EF4-FFF2-40B4-BE49-F238E27FC236}">
                  <a16:creationId xmlns:a16="http://schemas.microsoft.com/office/drawing/2014/main" id="{8EA4BCEE-B2B4-4870-B921-B3C0D7297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5" name="Freeform: Shape 7194">
              <a:extLst>
                <a:ext uri="{FF2B5EF4-FFF2-40B4-BE49-F238E27FC236}">
                  <a16:creationId xmlns:a16="http://schemas.microsoft.com/office/drawing/2014/main" id="{41271C20-03BB-47FA-A17B-09825E723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6" name="Freeform: Shape 7195">
              <a:extLst>
                <a:ext uri="{FF2B5EF4-FFF2-40B4-BE49-F238E27FC236}">
                  <a16:creationId xmlns:a16="http://schemas.microsoft.com/office/drawing/2014/main" id="{62C689A3-3820-4AFE-950D-CDA05D9683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7" name="Freeform: Shape 7196">
              <a:extLst>
                <a:ext uri="{FF2B5EF4-FFF2-40B4-BE49-F238E27FC236}">
                  <a16:creationId xmlns:a16="http://schemas.microsoft.com/office/drawing/2014/main" id="{0EB9DAC1-A980-4285-9059-16D6B748C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8" name="Freeform: Shape 7197">
              <a:extLst>
                <a:ext uri="{FF2B5EF4-FFF2-40B4-BE49-F238E27FC236}">
                  <a16:creationId xmlns:a16="http://schemas.microsoft.com/office/drawing/2014/main" id="{8D286A4C-6E67-462D-8807-EEF90F4C5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99" name="Freeform: Shape 7198">
              <a:extLst>
                <a:ext uri="{FF2B5EF4-FFF2-40B4-BE49-F238E27FC236}">
                  <a16:creationId xmlns:a16="http://schemas.microsoft.com/office/drawing/2014/main" id="{B7CABE22-D7D1-4970-BE8D-8E7B26FAA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0" name="Freeform: Shape 7199">
              <a:extLst>
                <a:ext uri="{FF2B5EF4-FFF2-40B4-BE49-F238E27FC236}">
                  <a16:creationId xmlns:a16="http://schemas.microsoft.com/office/drawing/2014/main" id="{9A59EB07-44AA-4839-A550-764F0C1CF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1" name="Freeform: Shape 7200">
              <a:extLst>
                <a:ext uri="{FF2B5EF4-FFF2-40B4-BE49-F238E27FC236}">
                  <a16:creationId xmlns:a16="http://schemas.microsoft.com/office/drawing/2014/main" id="{A07BD093-A681-4C0E-89E1-28B79FDC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2" name="Freeform: Shape 7201">
              <a:extLst>
                <a:ext uri="{FF2B5EF4-FFF2-40B4-BE49-F238E27FC236}">
                  <a16:creationId xmlns:a16="http://schemas.microsoft.com/office/drawing/2014/main" id="{954D3B41-D31B-418C-98E8-3DA9F7BE0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3" name="Freeform: Shape 7202">
              <a:extLst>
                <a:ext uri="{FF2B5EF4-FFF2-40B4-BE49-F238E27FC236}">
                  <a16:creationId xmlns:a16="http://schemas.microsoft.com/office/drawing/2014/main" id="{22C9153D-F851-40ED-A291-F586E67A8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4" name="Freeform: Shape 7203">
              <a:extLst>
                <a:ext uri="{FF2B5EF4-FFF2-40B4-BE49-F238E27FC236}">
                  <a16:creationId xmlns:a16="http://schemas.microsoft.com/office/drawing/2014/main" id="{D14F8536-E81B-4336-9991-6F1B3447E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5" name="Freeform: Shape 7204">
              <a:extLst>
                <a:ext uri="{FF2B5EF4-FFF2-40B4-BE49-F238E27FC236}">
                  <a16:creationId xmlns:a16="http://schemas.microsoft.com/office/drawing/2014/main" id="{1BCE3D87-8E1E-4E3C-B336-E161FE1421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6" name="Freeform: Shape 7205">
              <a:extLst>
                <a:ext uri="{FF2B5EF4-FFF2-40B4-BE49-F238E27FC236}">
                  <a16:creationId xmlns:a16="http://schemas.microsoft.com/office/drawing/2014/main" id="{0E57FCB1-61DD-4742-9F4E-0622EE262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7" name="Freeform: Shape 7206">
              <a:extLst>
                <a:ext uri="{FF2B5EF4-FFF2-40B4-BE49-F238E27FC236}">
                  <a16:creationId xmlns:a16="http://schemas.microsoft.com/office/drawing/2014/main" id="{8AC07452-C190-4DFF-9A85-7E0494E63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8" name="Freeform: Shape 7207">
              <a:extLst>
                <a:ext uri="{FF2B5EF4-FFF2-40B4-BE49-F238E27FC236}">
                  <a16:creationId xmlns:a16="http://schemas.microsoft.com/office/drawing/2014/main" id="{DDC1E49D-0160-40EF-B62C-3682A0113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09" name="Freeform: Shape 7208">
              <a:extLst>
                <a:ext uri="{FF2B5EF4-FFF2-40B4-BE49-F238E27FC236}">
                  <a16:creationId xmlns:a16="http://schemas.microsoft.com/office/drawing/2014/main" id="{0FF01E4E-41B3-4E3A-9069-2C00F199A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0" name="Freeform: Shape 7209">
              <a:extLst>
                <a:ext uri="{FF2B5EF4-FFF2-40B4-BE49-F238E27FC236}">
                  <a16:creationId xmlns:a16="http://schemas.microsoft.com/office/drawing/2014/main" id="{5C155535-D387-426C-8835-08EA1625D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1" name="Freeform: Shape 7210">
              <a:extLst>
                <a:ext uri="{FF2B5EF4-FFF2-40B4-BE49-F238E27FC236}">
                  <a16:creationId xmlns:a16="http://schemas.microsoft.com/office/drawing/2014/main" id="{130D8708-8C20-411A-99F6-39B7A15D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2" name="Freeform: Shape 7211">
              <a:extLst>
                <a:ext uri="{FF2B5EF4-FFF2-40B4-BE49-F238E27FC236}">
                  <a16:creationId xmlns:a16="http://schemas.microsoft.com/office/drawing/2014/main" id="{172CE489-867A-498C-85D0-99ED8A50D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3" name="Freeform: Shape 7212">
              <a:extLst>
                <a:ext uri="{FF2B5EF4-FFF2-40B4-BE49-F238E27FC236}">
                  <a16:creationId xmlns:a16="http://schemas.microsoft.com/office/drawing/2014/main" id="{13A369D6-BC7C-46B6-9802-41F7FE32F8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4" name="Freeform: Shape 7213">
              <a:extLst>
                <a:ext uri="{FF2B5EF4-FFF2-40B4-BE49-F238E27FC236}">
                  <a16:creationId xmlns:a16="http://schemas.microsoft.com/office/drawing/2014/main" id="{A735936F-8515-4CF4-A1E4-7466BFAD38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5" name="Freeform: Shape 7214">
              <a:extLst>
                <a:ext uri="{FF2B5EF4-FFF2-40B4-BE49-F238E27FC236}">
                  <a16:creationId xmlns:a16="http://schemas.microsoft.com/office/drawing/2014/main" id="{952E14F4-2A50-4876-A835-D7B7B7F051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6" name="Freeform: Shape 7215">
              <a:extLst>
                <a:ext uri="{FF2B5EF4-FFF2-40B4-BE49-F238E27FC236}">
                  <a16:creationId xmlns:a16="http://schemas.microsoft.com/office/drawing/2014/main" id="{5AD1B584-BCD9-47C1-BF94-A9B03E0A5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7" name="Freeform: Shape 7216">
              <a:extLst>
                <a:ext uri="{FF2B5EF4-FFF2-40B4-BE49-F238E27FC236}">
                  <a16:creationId xmlns:a16="http://schemas.microsoft.com/office/drawing/2014/main" id="{CE78B189-4AAE-4308-BE2A-561CE6E26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8" name="Freeform: Shape 7217">
              <a:extLst>
                <a:ext uri="{FF2B5EF4-FFF2-40B4-BE49-F238E27FC236}">
                  <a16:creationId xmlns:a16="http://schemas.microsoft.com/office/drawing/2014/main" id="{534F693D-9FD0-4BF4-9BCA-CAA391EE7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19" name="Freeform: Shape 7218">
              <a:extLst>
                <a:ext uri="{FF2B5EF4-FFF2-40B4-BE49-F238E27FC236}">
                  <a16:creationId xmlns:a16="http://schemas.microsoft.com/office/drawing/2014/main" id="{DC8A20BE-5976-437A-94F2-7869D1D4C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0" name="Freeform: Shape 7219">
              <a:extLst>
                <a:ext uri="{FF2B5EF4-FFF2-40B4-BE49-F238E27FC236}">
                  <a16:creationId xmlns:a16="http://schemas.microsoft.com/office/drawing/2014/main" id="{C2797F1A-9D8B-4AC7-8A7E-C088A7B61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1" name="Freeform: Shape 7220">
              <a:extLst>
                <a:ext uri="{FF2B5EF4-FFF2-40B4-BE49-F238E27FC236}">
                  <a16:creationId xmlns:a16="http://schemas.microsoft.com/office/drawing/2014/main" id="{BB8BB9ED-3A10-495E-A450-4573A83A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2" name="Freeform: Shape 7221">
              <a:extLst>
                <a:ext uri="{FF2B5EF4-FFF2-40B4-BE49-F238E27FC236}">
                  <a16:creationId xmlns:a16="http://schemas.microsoft.com/office/drawing/2014/main" id="{C84AAD79-9D91-4601-AE6B-E3CC0AC23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3" name="Freeform: Shape 7222">
              <a:extLst>
                <a:ext uri="{FF2B5EF4-FFF2-40B4-BE49-F238E27FC236}">
                  <a16:creationId xmlns:a16="http://schemas.microsoft.com/office/drawing/2014/main" id="{06966F3D-45BD-4D12-8447-B9669E9AD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4" name="Freeform: Shape 7223">
              <a:extLst>
                <a:ext uri="{FF2B5EF4-FFF2-40B4-BE49-F238E27FC236}">
                  <a16:creationId xmlns:a16="http://schemas.microsoft.com/office/drawing/2014/main" id="{C19B4C07-AFE8-42F6-8060-AB4FD27F82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5" name="Freeform: Shape 7224">
              <a:extLst>
                <a:ext uri="{FF2B5EF4-FFF2-40B4-BE49-F238E27FC236}">
                  <a16:creationId xmlns:a16="http://schemas.microsoft.com/office/drawing/2014/main" id="{6BCBEC46-CA76-424D-AE21-335765D37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6" name="Freeform: Shape 7225">
              <a:extLst>
                <a:ext uri="{FF2B5EF4-FFF2-40B4-BE49-F238E27FC236}">
                  <a16:creationId xmlns:a16="http://schemas.microsoft.com/office/drawing/2014/main" id="{32244D96-1DD8-4D90-B4DA-58056941D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7" name="Freeform: Shape 7226">
              <a:extLst>
                <a:ext uri="{FF2B5EF4-FFF2-40B4-BE49-F238E27FC236}">
                  <a16:creationId xmlns:a16="http://schemas.microsoft.com/office/drawing/2014/main" id="{EBFFC670-5D4A-4609-979B-30BE38D30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8" name="Freeform: Shape 7227">
              <a:extLst>
                <a:ext uri="{FF2B5EF4-FFF2-40B4-BE49-F238E27FC236}">
                  <a16:creationId xmlns:a16="http://schemas.microsoft.com/office/drawing/2014/main" id="{BBA6EA23-F2B4-49FA-86BB-40794E01B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29" name="Freeform: Shape 7228">
              <a:extLst>
                <a:ext uri="{FF2B5EF4-FFF2-40B4-BE49-F238E27FC236}">
                  <a16:creationId xmlns:a16="http://schemas.microsoft.com/office/drawing/2014/main" id="{89E16F95-4ED7-4D4A-A1FB-A9FFE338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0" name="Freeform: Shape 7229">
              <a:extLst>
                <a:ext uri="{FF2B5EF4-FFF2-40B4-BE49-F238E27FC236}">
                  <a16:creationId xmlns:a16="http://schemas.microsoft.com/office/drawing/2014/main" id="{B6602585-A0C4-419E-9F64-E17CC3004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1" name="Freeform: Shape 7230">
              <a:extLst>
                <a:ext uri="{FF2B5EF4-FFF2-40B4-BE49-F238E27FC236}">
                  <a16:creationId xmlns:a16="http://schemas.microsoft.com/office/drawing/2014/main" id="{680EC182-6DF1-4FF2-9C46-E24857CE3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2" name="Freeform: Shape 7231">
              <a:extLst>
                <a:ext uri="{FF2B5EF4-FFF2-40B4-BE49-F238E27FC236}">
                  <a16:creationId xmlns:a16="http://schemas.microsoft.com/office/drawing/2014/main" id="{E71D4C4B-3242-45D7-BBC6-3168AF117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3" name="Freeform: Shape 7232">
              <a:extLst>
                <a:ext uri="{FF2B5EF4-FFF2-40B4-BE49-F238E27FC236}">
                  <a16:creationId xmlns:a16="http://schemas.microsoft.com/office/drawing/2014/main" id="{5C43A586-0AEE-4520-8AE3-78557E8D5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4" name="Freeform: Shape 7233">
              <a:extLst>
                <a:ext uri="{FF2B5EF4-FFF2-40B4-BE49-F238E27FC236}">
                  <a16:creationId xmlns:a16="http://schemas.microsoft.com/office/drawing/2014/main" id="{3881E1E2-63F4-44A6-8FD4-E0031DDB0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5" name="Freeform: Shape 7234">
              <a:extLst>
                <a:ext uri="{FF2B5EF4-FFF2-40B4-BE49-F238E27FC236}">
                  <a16:creationId xmlns:a16="http://schemas.microsoft.com/office/drawing/2014/main" id="{8209E85B-A99A-4679-B958-DFD6FAC39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6" name="Freeform: Shape 7235">
              <a:extLst>
                <a:ext uri="{FF2B5EF4-FFF2-40B4-BE49-F238E27FC236}">
                  <a16:creationId xmlns:a16="http://schemas.microsoft.com/office/drawing/2014/main" id="{5AD3B901-0837-4EB4-B0BD-B5317762B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7" name="Freeform: Shape 7236">
              <a:extLst>
                <a:ext uri="{FF2B5EF4-FFF2-40B4-BE49-F238E27FC236}">
                  <a16:creationId xmlns:a16="http://schemas.microsoft.com/office/drawing/2014/main" id="{407F6141-18B7-42F5-AB8A-095FA602A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8" name="Freeform: Shape 7237">
              <a:extLst>
                <a:ext uri="{FF2B5EF4-FFF2-40B4-BE49-F238E27FC236}">
                  <a16:creationId xmlns:a16="http://schemas.microsoft.com/office/drawing/2014/main" id="{185154CE-9C1F-421D-A58A-D337E3179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39" name="Freeform: Shape 7238">
              <a:extLst>
                <a:ext uri="{FF2B5EF4-FFF2-40B4-BE49-F238E27FC236}">
                  <a16:creationId xmlns:a16="http://schemas.microsoft.com/office/drawing/2014/main" id="{959AAA97-B6F9-4CB6-B294-955DE265B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0" name="Freeform: Shape 7239">
              <a:extLst>
                <a:ext uri="{FF2B5EF4-FFF2-40B4-BE49-F238E27FC236}">
                  <a16:creationId xmlns:a16="http://schemas.microsoft.com/office/drawing/2014/main" id="{3696AC66-45F9-4D0A-978B-EBAFCBA8B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1" name="Freeform: Shape 7240">
              <a:extLst>
                <a:ext uri="{FF2B5EF4-FFF2-40B4-BE49-F238E27FC236}">
                  <a16:creationId xmlns:a16="http://schemas.microsoft.com/office/drawing/2014/main" id="{C8064064-C0D3-4A54-9D36-EB2759F07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2" name="Freeform: Shape 7241">
              <a:extLst>
                <a:ext uri="{FF2B5EF4-FFF2-40B4-BE49-F238E27FC236}">
                  <a16:creationId xmlns:a16="http://schemas.microsoft.com/office/drawing/2014/main" id="{696DAF67-B510-431C-81CE-598A220ED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3" name="Freeform: Shape 7242">
              <a:extLst>
                <a:ext uri="{FF2B5EF4-FFF2-40B4-BE49-F238E27FC236}">
                  <a16:creationId xmlns:a16="http://schemas.microsoft.com/office/drawing/2014/main" id="{4DFF3B41-BD0E-4E80-BE32-AAB566084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4" name="Freeform: Shape 7243">
              <a:extLst>
                <a:ext uri="{FF2B5EF4-FFF2-40B4-BE49-F238E27FC236}">
                  <a16:creationId xmlns:a16="http://schemas.microsoft.com/office/drawing/2014/main" id="{2E1C296D-C2BB-405E-A9E1-CD0C777E6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5" name="Freeform: Shape 7244">
              <a:extLst>
                <a:ext uri="{FF2B5EF4-FFF2-40B4-BE49-F238E27FC236}">
                  <a16:creationId xmlns:a16="http://schemas.microsoft.com/office/drawing/2014/main" id="{5E012E94-1E82-4743-9646-D27796E3DD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6" name="Freeform: Shape 7245">
              <a:extLst>
                <a:ext uri="{FF2B5EF4-FFF2-40B4-BE49-F238E27FC236}">
                  <a16:creationId xmlns:a16="http://schemas.microsoft.com/office/drawing/2014/main" id="{0506F7E7-8613-4F49-9B22-E8B9A8F89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7" name="Freeform: Shape 7246">
              <a:extLst>
                <a:ext uri="{FF2B5EF4-FFF2-40B4-BE49-F238E27FC236}">
                  <a16:creationId xmlns:a16="http://schemas.microsoft.com/office/drawing/2014/main" id="{667EFAB5-5519-4B20-B488-61E365357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8" name="Freeform: Shape 7247">
              <a:extLst>
                <a:ext uri="{FF2B5EF4-FFF2-40B4-BE49-F238E27FC236}">
                  <a16:creationId xmlns:a16="http://schemas.microsoft.com/office/drawing/2014/main" id="{7A46CD3C-8282-430D-84A6-668594635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49" name="Freeform: Shape 7248">
              <a:extLst>
                <a:ext uri="{FF2B5EF4-FFF2-40B4-BE49-F238E27FC236}">
                  <a16:creationId xmlns:a16="http://schemas.microsoft.com/office/drawing/2014/main" id="{09F667CC-51FA-4373-BF89-FDA9E6F57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0" name="Freeform: Shape 7249">
              <a:extLst>
                <a:ext uri="{FF2B5EF4-FFF2-40B4-BE49-F238E27FC236}">
                  <a16:creationId xmlns:a16="http://schemas.microsoft.com/office/drawing/2014/main" id="{52824720-77CA-4EFE-9B9B-F3C5DA5EC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1" name="Freeform: Shape 7250">
              <a:extLst>
                <a:ext uri="{FF2B5EF4-FFF2-40B4-BE49-F238E27FC236}">
                  <a16:creationId xmlns:a16="http://schemas.microsoft.com/office/drawing/2014/main" id="{DAAD48D1-498E-407D-8773-B32DA5177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2" name="Freeform: Shape 7251">
              <a:extLst>
                <a:ext uri="{FF2B5EF4-FFF2-40B4-BE49-F238E27FC236}">
                  <a16:creationId xmlns:a16="http://schemas.microsoft.com/office/drawing/2014/main" id="{F3761232-AC0F-4415-8849-2CE14A66E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3" name="Freeform: Shape 7252">
              <a:extLst>
                <a:ext uri="{FF2B5EF4-FFF2-40B4-BE49-F238E27FC236}">
                  <a16:creationId xmlns:a16="http://schemas.microsoft.com/office/drawing/2014/main" id="{F9671C34-F1B1-4964-861B-05E12FC14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4" name="Freeform: Shape 7253">
              <a:extLst>
                <a:ext uri="{FF2B5EF4-FFF2-40B4-BE49-F238E27FC236}">
                  <a16:creationId xmlns:a16="http://schemas.microsoft.com/office/drawing/2014/main" id="{A6D215CD-DE5C-4A36-8294-B856C4DFF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5" name="Freeform: Shape 7254">
              <a:extLst>
                <a:ext uri="{FF2B5EF4-FFF2-40B4-BE49-F238E27FC236}">
                  <a16:creationId xmlns:a16="http://schemas.microsoft.com/office/drawing/2014/main" id="{14F60611-ACD0-4AE1-9FF4-655DEF77E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6" name="Freeform: Shape 7255">
              <a:extLst>
                <a:ext uri="{FF2B5EF4-FFF2-40B4-BE49-F238E27FC236}">
                  <a16:creationId xmlns:a16="http://schemas.microsoft.com/office/drawing/2014/main" id="{54878BD8-4838-4CE8-8CED-48C75E453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7" name="Freeform: Shape 7256">
              <a:extLst>
                <a:ext uri="{FF2B5EF4-FFF2-40B4-BE49-F238E27FC236}">
                  <a16:creationId xmlns:a16="http://schemas.microsoft.com/office/drawing/2014/main" id="{ED34C671-92D6-4570-BDA7-7047026CD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8" name="Freeform: Shape 7257">
              <a:extLst>
                <a:ext uri="{FF2B5EF4-FFF2-40B4-BE49-F238E27FC236}">
                  <a16:creationId xmlns:a16="http://schemas.microsoft.com/office/drawing/2014/main" id="{E4ADB496-4E8C-4F69-A20E-AC11036CB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59" name="Freeform: Shape 7258">
              <a:extLst>
                <a:ext uri="{FF2B5EF4-FFF2-40B4-BE49-F238E27FC236}">
                  <a16:creationId xmlns:a16="http://schemas.microsoft.com/office/drawing/2014/main" id="{E05521A6-994C-4653-BE99-FCE71F6D15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0" name="Freeform: Shape 7259">
              <a:extLst>
                <a:ext uri="{FF2B5EF4-FFF2-40B4-BE49-F238E27FC236}">
                  <a16:creationId xmlns:a16="http://schemas.microsoft.com/office/drawing/2014/main" id="{10F93860-B875-4D68-ACE0-2F8F7CAAD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1" name="Freeform: Shape 7260">
              <a:extLst>
                <a:ext uri="{FF2B5EF4-FFF2-40B4-BE49-F238E27FC236}">
                  <a16:creationId xmlns:a16="http://schemas.microsoft.com/office/drawing/2014/main" id="{74CF85EE-C965-4602-9DB3-B22125155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2" name="Freeform: Shape 7261">
              <a:extLst>
                <a:ext uri="{FF2B5EF4-FFF2-40B4-BE49-F238E27FC236}">
                  <a16:creationId xmlns:a16="http://schemas.microsoft.com/office/drawing/2014/main" id="{CAC91C65-14F2-4458-A79D-647B28E04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3" name="Freeform: Shape 7262">
              <a:extLst>
                <a:ext uri="{FF2B5EF4-FFF2-40B4-BE49-F238E27FC236}">
                  <a16:creationId xmlns:a16="http://schemas.microsoft.com/office/drawing/2014/main" id="{91958A69-ABD1-441F-817D-8868D3E79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4" name="Freeform: Shape 7263">
              <a:extLst>
                <a:ext uri="{FF2B5EF4-FFF2-40B4-BE49-F238E27FC236}">
                  <a16:creationId xmlns:a16="http://schemas.microsoft.com/office/drawing/2014/main" id="{85B41124-1179-4F9F-8B23-B94A98BA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5" name="Freeform: Shape 7264">
              <a:extLst>
                <a:ext uri="{FF2B5EF4-FFF2-40B4-BE49-F238E27FC236}">
                  <a16:creationId xmlns:a16="http://schemas.microsoft.com/office/drawing/2014/main" id="{A44F475B-8586-4535-86BE-7FB5F76C6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6" name="Freeform: Shape 7265">
              <a:extLst>
                <a:ext uri="{FF2B5EF4-FFF2-40B4-BE49-F238E27FC236}">
                  <a16:creationId xmlns:a16="http://schemas.microsoft.com/office/drawing/2014/main" id="{285243B3-5329-4312-9C9F-FBC77AF48E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7" name="Freeform: Shape 7266">
              <a:extLst>
                <a:ext uri="{FF2B5EF4-FFF2-40B4-BE49-F238E27FC236}">
                  <a16:creationId xmlns:a16="http://schemas.microsoft.com/office/drawing/2014/main" id="{87C78038-CD15-4BEE-8688-B22F822C6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8" name="Freeform: Shape 7267">
              <a:extLst>
                <a:ext uri="{FF2B5EF4-FFF2-40B4-BE49-F238E27FC236}">
                  <a16:creationId xmlns:a16="http://schemas.microsoft.com/office/drawing/2014/main" id="{401EB7F4-2569-4602-A5DC-ECF750A64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69" name="Freeform: Shape 7268">
              <a:extLst>
                <a:ext uri="{FF2B5EF4-FFF2-40B4-BE49-F238E27FC236}">
                  <a16:creationId xmlns:a16="http://schemas.microsoft.com/office/drawing/2014/main" id="{C5AFCDCE-A4B9-4DFD-A39D-6C4513C47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0" name="Freeform: Shape 7269">
              <a:extLst>
                <a:ext uri="{FF2B5EF4-FFF2-40B4-BE49-F238E27FC236}">
                  <a16:creationId xmlns:a16="http://schemas.microsoft.com/office/drawing/2014/main" id="{1869FF3F-68C9-4316-AF81-44CCC551B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1" name="Freeform: Shape 7270">
              <a:extLst>
                <a:ext uri="{FF2B5EF4-FFF2-40B4-BE49-F238E27FC236}">
                  <a16:creationId xmlns:a16="http://schemas.microsoft.com/office/drawing/2014/main" id="{AAD11538-8098-4355-8DDD-D681DFAC32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2" name="Freeform: Shape 7271">
              <a:extLst>
                <a:ext uri="{FF2B5EF4-FFF2-40B4-BE49-F238E27FC236}">
                  <a16:creationId xmlns:a16="http://schemas.microsoft.com/office/drawing/2014/main" id="{0F3F997E-AED9-480A-A0E8-2593AF3C1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3" name="Freeform: Shape 7272">
              <a:extLst>
                <a:ext uri="{FF2B5EF4-FFF2-40B4-BE49-F238E27FC236}">
                  <a16:creationId xmlns:a16="http://schemas.microsoft.com/office/drawing/2014/main" id="{F621AF23-CD1C-4A82-934F-1C051FE78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4" name="Freeform: Shape 7273">
              <a:extLst>
                <a:ext uri="{FF2B5EF4-FFF2-40B4-BE49-F238E27FC236}">
                  <a16:creationId xmlns:a16="http://schemas.microsoft.com/office/drawing/2014/main" id="{CF7C8D23-402E-4902-9877-2933C68B3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5" name="Freeform: Shape 7274">
              <a:extLst>
                <a:ext uri="{FF2B5EF4-FFF2-40B4-BE49-F238E27FC236}">
                  <a16:creationId xmlns:a16="http://schemas.microsoft.com/office/drawing/2014/main" id="{166214BF-105C-4C50-A658-BB800D624F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6" name="Freeform: Shape 7275">
              <a:extLst>
                <a:ext uri="{FF2B5EF4-FFF2-40B4-BE49-F238E27FC236}">
                  <a16:creationId xmlns:a16="http://schemas.microsoft.com/office/drawing/2014/main" id="{DB657FB8-0889-47B9-9F7A-35C6F5E43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7" name="Freeform: Shape 7276">
              <a:extLst>
                <a:ext uri="{FF2B5EF4-FFF2-40B4-BE49-F238E27FC236}">
                  <a16:creationId xmlns:a16="http://schemas.microsoft.com/office/drawing/2014/main" id="{A02347C2-D097-4E47-9E71-D0AC7E0B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8" name="Freeform: Shape 7277">
              <a:extLst>
                <a:ext uri="{FF2B5EF4-FFF2-40B4-BE49-F238E27FC236}">
                  <a16:creationId xmlns:a16="http://schemas.microsoft.com/office/drawing/2014/main" id="{DF0D715C-2DC6-4444-95E7-C9E31D654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79" name="Freeform: Shape 7278">
              <a:extLst>
                <a:ext uri="{FF2B5EF4-FFF2-40B4-BE49-F238E27FC236}">
                  <a16:creationId xmlns:a16="http://schemas.microsoft.com/office/drawing/2014/main" id="{3E98A78E-FE40-406F-BB29-CE723A4A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0" name="Freeform: Shape 7279">
              <a:extLst>
                <a:ext uri="{FF2B5EF4-FFF2-40B4-BE49-F238E27FC236}">
                  <a16:creationId xmlns:a16="http://schemas.microsoft.com/office/drawing/2014/main" id="{25623FBB-A3DE-4893-B1E4-09BFE6EB74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1" name="Freeform: Shape 7280">
              <a:extLst>
                <a:ext uri="{FF2B5EF4-FFF2-40B4-BE49-F238E27FC236}">
                  <a16:creationId xmlns:a16="http://schemas.microsoft.com/office/drawing/2014/main" id="{98BD75D0-FB16-44AA-8F4B-9319502DD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2" name="Freeform: Shape 7281">
              <a:extLst>
                <a:ext uri="{FF2B5EF4-FFF2-40B4-BE49-F238E27FC236}">
                  <a16:creationId xmlns:a16="http://schemas.microsoft.com/office/drawing/2014/main" id="{65B25A8E-2993-4CE5-A81A-932105A4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3" name="Freeform: Shape 7282">
              <a:extLst>
                <a:ext uri="{FF2B5EF4-FFF2-40B4-BE49-F238E27FC236}">
                  <a16:creationId xmlns:a16="http://schemas.microsoft.com/office/drawing/2014/main" id="{8D8D167B-C705-4729-899E-AC9AE463C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4" name="Freeform: Shape 7283">
              <a:extLst>
                <a:ext uri="{FF2B5EF4-FFF2-40B4-BE49-F238E27FC236}">
                  <a16:creationId xmlns:a16="http://schemas.microsoft.com/office/drawing/2014/main" id="{670FBA7C-F842-4775-B83D-AEC5F14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5" name="Freeform: Shape 7284">
              <a:extLst>
                <a:ext uri="{FF2B5EF4-FFF2-40B4-BE49-F238E27FC236}">
                  <a16:creationId xmlns:a16="http://schemas.microsoft.com/office/drawing/2014/main" id="{DC68FA78-D012-4A89-8B7E-3CF1893164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6" name="Freeform: Shape 7285">
              <a:extLst>
                <a:ext uri="{FF2B5EF4-FFF2-40B4-BE49-F238E27FC236}">
                  <a16:creationId xmlns:a16="http://schemas.microsoft.com/office/drawing/2014/main" id="{8F14C2D5-2A65-48C1-AC1C-D4C29BBA9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7" name="Freeform: Shape 7286">
              <a:extLst>
                <a:ext uri="{FF2B5EF4-FFF2-40B4-BE49-F238E27FC236}">
                  <a16:creationId xmlns:a16="http://schemas.microsoft.com/office/drawing/2014/main" id="{22D4725A-DD05-406E-84D7-50DAC6BFB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8" name="Freeform: Shape 7287">
              <a:extLst>
                <a:ext uri="{FF2B5EF4-FFF2-40B4-BE49-F238E27FC236}">
                  <a16:creationId xmlns:a16="http://schemas.microsoft.com/office/drawing/2014/main" id="{1F292F3E-E6A6-41E9-9AF9-DF240E914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89" name="Freeform: Shape 7288">
              <a:extLst>
                <a:ext uri="{FF2B5EF4-FFF2-40B4-BE49-F238E27FC236}">
                  <a16:creationId xmlns:a16="http://schemas.microsoft.com/office/drawing/2014/main" id="{152F5E4F-6F5D-4FF5-AADC-77BF4906C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0" name="Freeform: Shape 7289">
              <a:extLst>
                <a:ext uri="{FF2B5EF4-FFF2-40B4-BE49-F238E27FC236}">
                  <a16:creationId xmlns:a16="http://schemas.microsoft.com/office/drawing/2014/main" id="{2EA96C5C-38D5-4D0F-9A75-F1C485604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1" name="Freeform: Shape 7290">
              <a:extLst>
                <a:ext uri="{FF2B5EF4-FFF2-40B4-BE49-F238E27FC236}">
                  <a16:creationId xmlns:a16="http://schemas.microsoft.com/office/drawing/2014/main" id="{A213E386-079B-4951-BD48-B86432246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2" name="Freeform: Shape 7291">
              <a:extLst>
                <a:ext uri="{FF2B5EF4-FFF2-40B4-BE49-F238E27FC236}">
                  <a16:creationId xmlns:a16="http://schemas.microsoft.com/office/drawing/2014/main" id="{F9C52A50-FC6F-4CF8-96ED-B16AC428B5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3" name="Freeform: Shape 7292">
              <a:extLst>
                <a:ext uri="{FF2B5EF4-FFF2-40B4-BE49-F238E27FC236}">
                  <a16:creationId xmlns:a16="http://schemas.microsoft.com/office/drawing/2014/main" id="{0AD79090-842D-4363-9CDB-03CA19DB28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4" name="Freeform: Shape 7293">
              <a:extLst>
                <a:ext uri="{FF2B5EF4-FFF2-40B4-BE49-F238E27FC236}">
                  <a16:creationId xmlns:a16="http://schemas.microsoft.com/office/drawing/2014/main" id="{8B923BC0-6A72-4261-907F-568CEF3D9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5" name="Freeform: Shape 7294">
              <a:extLst>
                <a:ext uri="{FF2B5EF4-FFF2-40B4-BE49-F238E27FC236}">
                  <a16:creationId xmlns:a16="http://schemas.microsoft.com/office/drawing/2014/main" id="{682D956C-7F2C-45F4-8EB5-B9637909A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6" name="Freeform: Shape 7295">
              <a:extLst>
                <a:ext uri="{FF2B5EF4-FFF2-40B4-BE49-F238E27FC236}">
                  <a16:creationId xmlns:a16="http://schemas.microsoft.com/office/drawing/2014/main" id="{5AF71042-41A5-405B-A14C-9E194529D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7" name="Freeform: Shape 7296">
              <a:extLst>
                <a:ext uri="{FF2B5EF4-FFF2-40B4-BE49-F238E27FC236}">
                  <a16:creationId xmlns:a16="http://schemas.microsoft.com/office/drawing/2014/main" id="{DC068DA5-7174-4664-9C13-4F7ABAFC1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8" name="Freeform: Shape 7297">
              <a:extLst>
                <a:ext uri="{FF2B5EF4-FFF2-40B4-BE49-F238E27FC236}">
                  <a16:creationId xmlns:a16="http://schemas.microsoft.com/office/drawing/2014/main" id="{00525F2C-C937-4BE3-AF79-3540A6E1CA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99" name="Freeform: Shape 7298">
              <a:extLst>
                <a:ext uri="{FF2B5EF4-FFF2-40B4-BE49-F238E27FC236}">
                  <a16:creationId xmlns:a16="http://schemas.microsoft.com/office/drawing/2014/main" id="{6CA46F03-C9C9-4425-82A8-2110001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0" name="Freeform: Shape 7299">
              <a:extLst>
                <a:ext uri="{FF2B5EF4-FFF2-40B4-BE49-F238E27FC236}">
                  <a16:creationId xmlns:a16="http://schemas.microsoft.com/office/drawing/2014/main" id="{6D21589A-A316-4E71-B638-D33C4141B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1" name="Freeform: Shape 7300">
              <a:extLst>
                <a:ext uri="{FF2B5EF4-FFF2-40B4-BE49-F238E27FC236}">
                  <a16:creationId xmlns:a16="http://schemas.microsoft.com/office/drawing/2014/main" id="{C0B918FA-95C1-4373-B66D-56936BB7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2" name="Freeform: Shape 7301">
              <a:extLst>
                <a:ext uri="{FF2B5EF4-FFF2-40B4-BE49-F238E27FC236}">
                  <a16:creationId xmlns:a16="http://schemas.microsoft.com/office/drawing/2014/main" id="{CBF04F9E-EC09-43BE-A049-082DE1531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3" name="Freeform: Shape 7302">
              <a:extLst>
                <a:ext uri="{FF2B5EF4-FFF2-40B4-BE49-F238E27FC236}">
                  <a16:creationId xmlns:a16="http://schemas.microsoft.com/office/drawing/2014/main" id="{35A8838D-5812-49CE-80E4-E0CE11424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4" name="Freeform: Shape 7303">
              <a:extLst>
                <a:ext uri="{FF2B5EF4-FFF2-40B4-BE49-F238E27FC236}">
                  <a16:creationId xmlns:a16="http://schemas.microsoft.com/office/drawing/2014/main" id="{379B4036-BE45-42C0-929B-42932369A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5" name="Freeform: Shape 7304">
              <a:extLst>
                <a:ext uri="{FF2B5EF4-FFF2-40B4-BE49-F238E27FC236}">
                  <a16:creationId xmlns:a16="http://schemas.microsoft.com/office/drawing/2014/main" id="{40E913D5-5568-4901-883B-8C42A8F3D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6" name="Freeform: Shape 7305">
              <a:extLst>
                <a:ext uri="{FF2B5EF4-FFF2-40B4-BE49-F238E27FC236}">
                  <a16:creationId xmlns:a16="http://schemas.microsoft.com/office/drawing/2014/main" id="{A1B52038-9622-4802-81BA-ACC198475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7" name="Freeform: Shape 7306">
              <a:extLst>
                <a:ext uri="{FF2B5EF4-FFF2-40B4-BE49-F238E27FC236}">
                  <a16:creationId xmlns:a16="http://schemas.microsoft.com/office/drawing/2014/main" id="{D0DEAC10-5A6B-47AD-A728-CE2C8CF13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8" name="Freeform: Shape 7307">
              <a:extLst>
                <a:ext uri="{FF2B5EF4-FFF2-40B4-BE49-F238E27FC236}">
                  <a16:creationId xmlns:a16="http://schemas.microsoft.com/office/drawing/2014/main" id="{D1B38B28-66AD-4A02-AE15-F762137B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09" name="Freeform: Shape 7308">
              <a:extLst>
                <a:ext uri="{FF2B5EF4-FFF2-40B4-BE49-F238E27FC236}">
                  <a16:creationId xmlns:a16="http://schemas.microsoft.com/office/drawing/2014/main" id="{0BAF1CE8-3AF3-4FF2-8F0B-3BC7A4740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0" name="Freeform: Shape 7309">
              <a:extLst>
                <a:ext uri="{FF2B5EF4-FFF2-40B4-BE49-F238E27FC236}">
                  <a16:creationId xmlns:a16="http://schemas.microsoft.com/office/drawing/2014/main" id="{4D9937F5-39C5-49BB-A3F1-21D0730BF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1" name="Freeform: Shape 7310">
              <a:extLst>
                <a:ext uri="{FF2B5EF4-FFF2-40B4-BE49-F238E27FC236}">
                  <a16:creationId xmlns:a16="http://schemas.microsoft.com/office/drawing/2014/main" id="{A48A61DC-ED1D-4B72-828E-9FD85AF267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2" name="Freeform: Shape 7311">
              <a:extLst>
                <a:ext uri="{FF2B5EF4-FFF2-40B4-BE49-F238E27FC236}">
                  <a16:creationId xmlns:a16="http://schemas.microsoft.com/office/drawing/2014/main" id="{6A89B28D-13E0-46C3-AB20-6DBEDB61D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3" name="Freeform: Shape 7312">
              <a:extLst>
                <a:ext uri="{FF2B5EF4-FFF2-40B4-BE49-F238E27FC236}">
                  <a16:creationId xmlns:a16="http://schemas.microsoft.com/office/drawing/2014/main" id="{B17F470D-67A6-475E-9F1C-9D1FCD4DF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4" name="Freeform: Shape 7313">
              <a:extLst>
                <a:ext uri="{FF2B5EF4-FFF2-40B4-BE49-F238E27FC236}">
                  <a16:creationId xmlns:a16="http://schemas.microsoft.com/office/drawing/2014/main" id="{0C116B5B-C2BF-4A29-920C-0E6D2A865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5" name="Freeform: Shape 7314">
              <a:extLst>
                <a:ext uri="{FF2B5EF4-FFF2-40B4-BE49-F238E27FC236}">
                  <a16:creationId xmlns:a16="http://schemas.microsoft.com/office/drawing/2014/main" id="{977DFF22-98A9-4A00-B45B-BA0024E4B5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6" name="Freeform: Shape 7315">
              <a:extLst>
                <a:ext uri="{FF2B5EF4-FFF2-40B4-BE49-F238E27FC236}">
                  <a16:creationId xmlns:a16="http://schemas.microsoft.com/office/drawing/2014/main" id="{233D6D17-E307-4F26-9F91-607B2D1B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7" name="Freeform: Shape 7316">
              <a:extLst>
                <a:ext uri="{FF2B5EF4-FFF2-40B4-BE49-F238E27FC236}">
                  <a16:creationId xmlns:a16="http://schemas.microsoft.com/office/drawing/2014/main" id="{F044F5F0-FB5F-4364-A17D-B476349E1F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8" name="Freeform: Shape 7317">
              <a:extLst>
                <a:ext uri="{FF2B5EF4-FFF2-40B4-BE49-F238E27FC236}">
                  <a16:creationId xmlns:a16="http://schemas.microsoft.com/office/drawing/2014/main" id="{C51E13B0-54FA-4C07-A08D-0035E29D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19" name="Freeform: Shape 7318">
              <a:extLst>
                <a:ext uri="{FF2B5EF4-FFF2-40B4-BE49-F238E27FC236}">
                  <a16:creationId xmlns:a16="http://schemas.microsoft.com/office/drawing/2014/main" id="{B23AA2A7-69AA-4892-8D19-6786784B8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0" name="Freeform: Shape 7319">
              <a:extLst>
                <a:ext uri="{FF2B5EF4-FFF2-40B4-BE49-F238E27FC236}">
                  <a16:creationId xmlns:a16="http://schemas.microsoft.com/office/drawing/2014/main" id="{C22409CA-4103-489E-9A88-9E822AC42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1" name="Freeform: Shape 7320">
              <a:extLst>
                <a:ext uri="{FF2B5EF4-FFF2-40B4-BE49-F238E27FC236}">
                  <a16:creationId xmlns:a16="http://schemas.microsoft.com/office/drawing/2014/main" id="{2941B7FE-F0B4-4717-BE8E-31EE09F5C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2" name="Freeform: Shape 7321">
              <a:extLst>
                <a:ext uri="{FF2B5EF4-FFF2-40B4-BE49-F238E27FC236}">
                  <a16:creationId xmlns:a16="http://schemas.microsoft.com/office/drawing/2014/main" id="{AA36A1CD-E7E3-400D-BBA9-1B8363460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3" name="Freeform: Shape 7322">
              <a:extLst>
                <a:ext uri="{FF2B5EF4-FFF2-40B4-BE49-F238E27FC236}">
                  <a16:creationId xmlns:a16="http://schemas.microsoft.com/office/drawing/2014/main" id="{42D8F4BE-D92B-483E-8049-5FDA3FD40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4" name="Freeform: Shape 7323">
              <a:extLst>
                <a:ext uri="{FF2B5EF4-FFF2-40B4-BE49-F238E27FC236}">
                  <a16:creationId xmlns:a16="http://schemas.microsoft.com/office/drawing/2014/main" id="{77725CAB-E398-42F8-A5E5-8ACED1B61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5" name="Freeform: Shape 7324">
              <a:extLst>
                <a:ext uri="{FF2B5EF4-FFF2-40B4-BE49-F238E27FC236}">
                  <a16:creationId xmlns:a16="http://schemas.microsoft.com/office/drawing/2014/main" id="{782EF470-319A-4DCA-AB6F-B4441DD59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6" name="Freeform: Shape 7325">
              <a:extLst>
                <a:ext uri="{FF2B5EF4-FFF2-40B4-BE49-F238E27FC236}">
                  <a16:creationId xmlns:a16="http://schemas.microsoft.com/office/drawing/2014/main" id="{ECBF0AE1-7C37-4F3E-B37A-44CAD6900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7" name="Freeform: Shape 7326">
              <a:extLst>
                <a:ext uri="{FF2B5EF4-FFF2-40B4-BE49-F238E27FC236}">
                  <a16:creationId xmlns:a16="http://schemas.microsoft.com/office/drawing/2014/main" id="{87EE399C-60A0-43AB-AD85-CAEDD25A8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8" name="Freeform: Shape 7327">
              <a:extLst>
                <a:ext uri="{FF2B5EF4-FFF2-40B4-BE49-F238E27FC236}">
                  <a16:creationId xmlns:a16="http://schemas.microsoft.com/office/drawing/2014/main" id="{6DEF9E1C-0288-422F-9D39-B2B97B0BDF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29" name="Freeform: Shape 7328">
              <a:extLst>
                <a:ext uri="{FF2B5EF4-FFF2-40B4-BE49-F238E27FC236}">
                  <a16:creationId xmlns:a16="http://schemas.microsoft.com/office/drawing/2014/main" id="{B9FD4213-CE93-46E6-A356-5C9B681A6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0" name="Freeform: Shape 7329">
              <a:extLst>
                <a:ext uri="{FF2B5EF4-FFF2-40B4-BE49-F238E27FC236}">
                  <a16:creationId xmlns:a16="http://schemas.microsoft.com/office/drawing/2014/main" id="{32AF21C6-5C6A-4ADC-98CE-0C897306F1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1" name="Freeform: Shape 7330">
              <a:extLst>
                <a:ext uri="{FF2B5EF4-FFF2-40B4-BE49-F238E27FC236}">
                  <a16:creationId xmlns:a16="http://schemas.microsoft.com/office/drawing/2014/main" id="{67C50FF0-A4F6-4B10-91CC-CC456891E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2" name="Freeform: Shape 7331">
              <a:extLst>
                <a:ext uri="{FF2B5EF4-FFF2-40B4-BE49-F238E27FC236}">
                  <a16:creationId xmlns:a16="http://schemas.microsoft.com/office/drawing/2014/main" id="{DF34FC9E-632A-4B97-AB95-812ABD859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3" name="Freeform: Shape 7332">
              <a:extLst>
                <a:ext uri="{FF2B5EF4-FFF2-40B4-BE49-F238E27FC236}">
                  <a16:creationId xmlns:a16="http://schemas.microsoft.com/office/drawing/2014/main" id="{6943D9D5-E01E-4A32-A5D1-AD61A32EC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4" name="Freeform: Shape 7333">
              <a:extLst>
                <a:ext uri="{FF2B5EF4-FFF2-40B4-BE49-F238E27FC236}">
                  <a16:creationId xmlns:a16="http://schemas.microsoft.com/office/drawing/2014/main" id="{5F93C502-F4AC-4D2C-A43D-85093C59A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5" name="Freeform: Shape 7334">
              <a:extLst>
                <a:ext uri="{FF2B5EF4-FFF2-40B4-BE49-F238E27FC236}">
                  <a16:creationId xmlns:a16="http://schemas.microsoft.com/office/drawing/2014/main" id="{AFCADD6C-627D-43CE-9413-A793AAA085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6" name="Freeform: Shape 7335">
              <a:extLst>
                <a:ext uri="{FF2B5EF4-FFF2-40B4-BE49-F238E27FC236}">
                  <a16:creationId xmlns:a16="http://schemas.microsoft.com/office/drawing/2014/main" id="{E7838A6E-823E-4306-9088-5AFE0912E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7" name="Freeform: Shape 7336">
              <a:extLst>
                <a:ext uri="{FF2B5EF4-FFF2-40B4-BE49-F238E27FC236}">
                  <a16:creationId xmlns:a16="http://schemas.microsoft.com/office/drawing/2014/main" id="{5F20A74B-CE15-4678-8E60-8983D4B53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8" name="Freeform: Shape 7337">
              <a:extLst>
                <a:ext uri="{FF2B5EF4-FFF2-40B4-BE49-F238E27FC236}">
                  <a16:creationId xmlns:a16="http://schemas.microsoft.com/office/drawing/2014/main" id="{AB4409F0-44F9-411F-8711-53B028783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39" name="Freeform: Shape 7338">
              <a:extLst>
                <a:ext uri="{FF2B5EF4-FFF2-40B4-BE49-F238E27FC236}">
                  <a16:creationId xmlns:a16="http://schemas.microsoft.com/office/drawing/2014/main" id="{64A642A9-686F-402A-920C-EDB02B2FE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0" name="Freeform: Shape 7339">
              <a:extLst>
                <a:ext uri="{FF2B5EF4-FFF2-40B4-BE49-F238E27FC236}">
                  <a16:creationId xmlns:a16="http://schemas.microsoft.com/office/drawing/2014/main" id="{B2B4D5D4-0C5C-4D98-9738-D245840A7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1" name="Freeform: Shape 7340">
              <a:extLst>
                <a:ext uri="{FF2B5EF4-FFF2-40B4-BE49-F238E27FC236}">
                  <a16:creationId xmlns:a16="http://schemas.microsoft.com/office/drawing/2014/main" id="{F70D7430-18D9-4B8F-9F7A-308C701930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2" name="Freeform: Shape 7341">
              <a:extLst>
                <a:ext uri="{FF2B5EF4-FFF2-40B4-BE49-F238E27FC236}">
                  <a16:creationId xmlns:a16="http://schemas.microsoft.com/office/drawing/2014/main" id="{764FC2A4-5817-4FA0-A4A7-6653D1DA6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3" name="Freeform: Shape 7342">
              <a:extLst>
                <a:ext uri="{FF2B5EF4-FFF2-40B4-BE49-F238E27FC236}">
                  <a16:creationId xmlns:a16="http://schemas.microsoft.com/office/drawing/2014/main" id="{84DCF9E7-E283-43A0-9C25-F70016263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4" name="Freeform: Shape 7343">
              <a:extLst>
                <a:ext uri="{FF2B5EF4-FFF2-40B4-BE49-F238E27FC236}">
                  <a16:creationId xmlns:a16="http://schemas.microsoft.com/office/drawing/2014/main" id="{A24478FE-2D73-495D-A2CE-6D1D87C25A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5" name="Freeform: Shape 7344">
              <a:extLst>
                <a:ext uri="{FF2B5EF4-FFF2-40B4-BE49-F238E27FC236}">
                  <a16:creationId xmlns:a16="http://schemas.microsoft.com/office/drawing/2014/main" id="{024EF5F2-46E7-4950-93D0-371415B787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6" name="Freeform: Shape 7345">
              <a:extLst>
                <a:ext uri="{FF2B5EF4-FFF2-40B4-BE49-F238E27FC236}">
                  <a16:creationId xmlns:a16="http://schemas.microsoft.com/office/drawing/2014/main" id="{F1E76799-6B37-47A7-B311-D4AD1BB5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7" name="Freeform: Shape 7346">
              <a:extLst>
                <a:ext uri="{FF2B5EF4-FFF2-40B4-BE49-F238E27FC236}">
                  <a16:creationId xmlns:a16="http://schemas.microsoft.com/office/drawing/2014/main" id="{18E48635-AD82-4B9C-BD64-E19D0DCD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8" name="Freeform: Shape 7347">
              <a:extLst>
                <a:ext uri="{FF2B5EF4-FFF2-40B4-BE49-F238E27FC236}">
                  <a16:creationId xmlns:a16="http://schemas.microsoft.com/office/drawing/2014/main" id="{FFE8012D-8F5A-48C7-A667-EF1782E176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49" name="Freeform: Shape 7348">
              <a:extLst>
                <a:ext uri="{FF2B5EF4-FFF2-40B4-BE49-F238E27FC236}">
                  <a16:creationId xmlns:a16="http://schemas.microsoft.com/office/drawing/2014/main" id="{24D6A3A1-CDCE-458B-B3ED-792E80025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0" name="Freeform: Shape 7349">
              <a:extLst>
                <a:ext uri="{FF2B5EF4-FFF2-40B4-BE49-F238E27FC236}">
                  <a16:creationId xmlns:a16="http://schemas.microsoft.com/office/drawing/2014/main" id="{CD8FB40D-7336-4F24-9F28-25EC9AE6C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1" name="Freeform: Shape 7350">
              <a:extLst>
                <a:ext uri="{FF2B5EF4-FFF2-40B4-BE49-F238E27FC236}">
                  <a16:creationId xmlns:a16="http://schemas.microsoft.com/office/drawing/2014/main" id="{75683C3C-C038-49EA-9635-AC7B82AF2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2" name="Freeform: Shape 7351">
              <a:extLst>
                <a:ext uri="{FF2B5EF4-FFF2-40B4-BE49-F238E27FC236}">
                  <a16:creationId xmlns:a16="http://schemas.microsoft.com/office/drawing/2014/main" id="{6286FF4B-0471-47B5-AA6C-8BA5CC04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3" name="Freeform: Shape 7352">
              <a:extLst>
                <a:ext uri="{FF2B5EF4-FFF2-40B4-BE49-F238E27FC236}">
                  <a16:creationId xmlns:a16="http://schemas.microsoft.com/office/drawing/2014/main" id="{CEB73580-6577-4A7A-A7EA-E79093D9DC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4" name="Freeform: Shape 7353">
              <a:extLst>
                <a:ext uri="{FF2B5EF4-FFF2-40B4-BE49-F238E27FC236}">
                  <a16:creationId xmlns:a16="http://schemas.microsoft.com/office/drawing/2014/main" id="{9E97866D-632F-4778-992C-F2750D608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5" name="Freeform: Shape 7354">
              <a:extLst>
                <a:ext uri="{FF2B5EF4-FFF2-40B4-BE49-F238E27FC236}">
                  <a16:creationId xmlns:a16="http://schemas.microsoft.com/office/drawing/2014/main" id="{5A7AC897-3ADD-4A69-A122-EA6F8EFD2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56" name="Freeform: Shape 7355">
              <a:extLst>
                <a:ext uri="{FF2B5EF4-FFF2-40B4-BE49-F238E27FC236}">
                  <a16:creationId xmlns:a16="http://schemas.microsoft.com/office/drawing/2014/main" id="{06C3FE79-4EEC-4CF3-92A0-F6BC9F8B4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B78D57-2D57-31A1-1990-318CE194B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Perplexity &amp; Gemini CLI</a:t>
            </a:r>
          </a:p>
          <a:p>
            <a:r>
              <a:rPr lang="en-US">
                <a:solidFill>
                  <a:schemeClr val="bg1"/>
                </a:solidFill>
                <a:hlinkClick r:id="rId3"/>
              </a:rPr>
              <a:t>Wikipedia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hlinkClick r:id="rId4"/>
              </a:rPr>
              <a:t>ycombinator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397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348</Words>
  <Application>Microsoft Office PowerPoint</Application>
  <PresentationFormat>Szélesvásznú</PresentationFormat>
  <Paragraphs>52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Office-téma</vt:lpstr>
      <vt:lpstr>A Steel Thread modell</vt:lpstr>
      <vt:lpstr>Bevezetés</vt:lpstr>
      <vt:lpstr>Mi a Steel Thread modell?</vt:lpstr>
      <vt:lpstr>Miért egyedi és ritka?</vt:lpstr>
      <vt:lpstr>Hogyan működik a modell?</vt:lpstr>
      <vt:lpstr>Fő jellemzők</vt:lpstr>
      <vt:lpstr>Előnyök</vt:lpstr>
      <vt:lpstr>Kihívások és korlátok</vt:lpstr>
      <vt:lpstr>Hol érdemes használni a Steel Thread modellt?</vt:lpstr>
      <vt:lpstr>Nemzetközi és privát projektek a modellel</vt:lpstr>
      <vt:lpstr>Összegzés</vt:lpstr>
      <vt:lpstr>Köszönöm a figyelmet! &amp; Források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Steel Thread modell</dc:title>
  <dc:creator>Csongor Péter Solti</dc:creator>
  <cp:lastModifiedBy>Csongor Péter Solti</cp:lastModifiedBy>
  <cp:revision>8</cp:revision>
  <dcterms:created xsi:type="dcterms:W3CDTF">2025-10-07T05:53:10Z</dcterms:created>
  <dcterms:modified xsi:type="dcterms:W3CDTF">2025-10-07T07:29:21Z</dcterms:modified>
</cp:coreProperties>
</file>